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2" r:id="rId5"/>
    <p:sldId id="257" r:id="rId6"/>
    <p:sldId id="263" r:id="rId7"/>
    <p:sldId id="267" r:id="rId8"/>
    <p:sldId id="258" r:id="rId9"/>
    <p:sldId id="268" r:id="rId10"/>
    <p:sldId id="269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3BF1F-6429-413A-A0D0-7AF149480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D3FE584-1085-4468-A1DA-A3771F74C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AEDC8A-FEB0-41EF-B597-57657D77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906920-015D-42A1-A765-C247DBB1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258781-8C21-4437-B22E-B8402A96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5404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ADE379-FAFC-4EC3-8EAF-3E91E29A1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27D53C-B9BD-4A51-8132-B94D2E42A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982CA5-9B14-40B6-8729-F834CB16A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7C4189-541E-4528-84E6-10362628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13A831-DFE3-4E59-9DC6-F95A1879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664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EE74FA-E365-4F0A-A0C6-C070F36F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FE9993-D2F3-424F-BDB7-0C9A8C7E1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3D3976-7E06-4756-9932-7823B911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FDDB18-A286-4746-A45F-11B160903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516A8F-C324-4CEA-A7F6-18AEB868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20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E255F-BA14-4C31-A329-1B9EEC91C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A3B782-1161-490C-B80D-AFE6ED487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3A8A69-A1BA-485A-92AA-1D3CB14A7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73FE04-D221-49C2-A857-D5F04E70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CFF1AB-2909-4B8B-BE51-1E93F8588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36005-A05F-4EC8-AC61-05D9B15D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73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297A4C-7323-4DFC-B6C8-6C0AC31C3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390331-894A-4244-9758-4762DA74B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93855D-BCFC-4C49-8463-A6A6CF4AC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11C87AA-9722-4CA3-BF2C-643EE4755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5D69090-82BE-4C59-81F6-391B319B0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11D74ED-708C-4B19-8386-C2454461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3E1F851-E2C7-4F7B-85F3-4999BE7C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0F4C4D6-F843-42AB-B0E8-C7764951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845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D78944-C176-42BD-AC61-4E1E5444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07B7DFD-42B8-4C70-966A-828B87FD0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D7A194-36C5-45B5-BEF2-008CE8E3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94FB98-2166-4E4F-9BE7-97D92DA1B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1731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0EBEB9D-CA62-4AFB-BE21-6E3AA9F7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9705E56-DF66-4EC9-BBF1-31F142BC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BE453E-0381-4B61-BB26-C8F349AE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36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3204A-0A20-453E-ADEB-A457E89A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6EB22E-E0BD-469F-9F98-84CD862DE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215035E-8F41-4F89-A563-353FB07C4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04592D-546D-42CA-B2AC-AC2D1DC3C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23FF40-105C-4777-8855-6CD91F774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E1CEA2-8261-4E90-B51F-4B0A4476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3543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7486D1-D6E9-4B82-9BB3-A13F242F2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28A6D7D-CC42-4B9F-9C73-B8EFB75DF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3EE0169-A373-41BD-8FCF-F8AB1189A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D93792-D07E-4F08-963E-103313807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DE190A-A849-4B3F-90AC-17BAB8CE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1909-352F-451A-AC81-4F361CC5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4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B68F63-E457-405E-846D-088AAA8E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3CB1EA6-F788-4446-8B51-39A2E6119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1B6766-ECA7-49B0-89D1-A0616F7D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AF7DE-0253-48ED-80EB-8C36DE4B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5A9E7E-E288-433B-BDC4-ED1D9735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03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EDEE15A-92CD-4663-85B1-D21987AEA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085D329-24AF-458F-AF3E-8011F3C25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EDA11C-51E6-4C29-AE95-AC7D5DCF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9B0498-6CA8-43DC-83EE-1D0917A5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522502-A4FF-4587-8D78-2C8E93DD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12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131E482-2192-402F-9AD6-449643FB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DB5028-8389-4394-8B52-FD00CECF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94F9B6-94AB-43D3-B38D-472725B6D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8F30D-89AB-44BB-9EAC-80B419FC1373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8A9ADB-35C6-4819-BA6B-FAA02781A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4FF748-8535-4FBF-9B51-8DCB20807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B0394-43E0-40CC-9153-12E7BEE4A7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528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9ECA7-591B-46EE-BF4E-6BE459F202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2_0">
            <a:extLst>
              <a:ext uri="{FF2B5EF4-FFF2-40B4-BE49-F238E27FC236}">
                <a16:creationId xmlns:a16="http://schemas.microsoft.com/office/drawing/2014/main" id="{1C60FE5E-A1B7-4AE2-A186-C116DE591C6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11728" y="1073810"/>
            <a:ext cx="10560356" cy="4661827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549A6A6-9794-4929-8B4C-F0D159C47DF2}"/>
              </a:ext>
            </a:extLst>
          </p:cNvPr>
          <p:cNvSpPr/>
          <p:nvPr/>
        </p:nvSpPr>
        <p:spPr>
          <a:xfrm>
            <a:off x="2256952" y="1122363"/>
            <a:ext cx="5830348" cy="4212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Projection UMAP illustrant les archétypes spécifiques des sous-types tumoraux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85FEBC-CE20-47CC-A744-94E73501854E}"/>
              </a:ext>
            </a:extLst>
          </p:cNvPr>
          <p:cNvSpPr/>
          <p:nvPr/>
        </p:nvSpPr>
        <p:spPr>
          <a:xfrm>
            <a:off x="9169637" y="2487079"/>
            <a:ext cx="1803164" cy="3415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Archétypes tumoraux</a:t>
            </a:r>
          </a:p>
        </p:txBody>
      </p:sp>
    </p:spTree>
    <p:extLst>
      <p:ext uri="{BB962C8B-B14F-4D97-AF65-F5344CB8AC3E}">
        <p14:creationId xmlns:p14="http://schemas.microsoft.com/office/powerpoint/2010/main" val="282466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_0">
            <a:extLst>
              <a:ext uri="{FF2B5EF4-FFF2-40B4-BE49-F238E27FC236}">
                <a16:creationId xmlns:a16="http://schemas.microsoft.com/office/drawing/2014/main" id="{1C60FE5E-A1B7-4AE2-A186-C116DE591C65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" t="2865" r="849" b="2680"/>
          <a:stretch/>
        </p:blipFill>
        <p:spPr>
          <a:xfrm>
            <a:off x="3111623" y="151977"/>
            <a:ext cx="5968754" cy="3470112"/>
          </a:xfrm>
          <a:prstGeom prst="rect">
            <a:avLst/>
          </a:prstGeom>
          <a:ln>
            <a:noFill/>
          </a:ln>
        </p:spPr>
      </p:pic>
      <p:pic>
        <p:nvPicPr>
          <p:cNvPr id="7" name="Image 5">
            <a:extLst>
              <a:ext uri="{FF2B5EF4-FFF2-40B4-BE49-F238E27FC236}">
                <a16:creationId xmlns:a16="http://schemas.microsoft.com/office/drawing/2014/main" id="{1604B4D0-8B07-430B-A92B-B75B52BF9A7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084989" y="3622089"/>
            <a:ext cx="5357675" cy="32359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4590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_0">
            <a:extLst>
              <a:ext uri="{FF2B5EF4-FFF2-40B4-BE49-F238E27FC236}">
                <a16:creationId xmlns:a16="http://schemas.microsoft.com/office/drawing/2014/main" id="{1C60FE5E-A1B7-4AE2-A186-C116DE591C65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" t="2865" r="849" b="2680"/>
          <a:stretch/>
        </p:blipFill>
        <p:spPr>
          <a:xfrm>
            <a:off x="119846" y="1693944"/>
            <a:ext cx="5968754" cy="3470112"/>
          </a:xfrm>
          <a:prstGeom prst="rect">
            <a:avLst/>
          </a:prstGeom>
          <a:ln>
            <a:noFill/>
          </a:ln>
        </p:spPr>
      </p:pic>
      <p:pic>
        <p:nvPicPr>
          <p:cNvPr id="7" name="Image 5">
            <a:extLst>
              <a:ext uri="{FF2B5EF4-FFF2-40B4-BE49-F238E27FC236}">
                <a16:creationId xmlns:a16="http://schemas.microsoft.com/office/drawing/2014/main" id="{1604B4D0-8B07-430B-A92B-B75B52BF9A7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59624" y="1586036"/>
            <a:ext cx="5964315" cy="368592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0923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_0">
            <a:extLst>
              <a:ext uri="{FF2B5EF4-FFF2-40B4-BE49-F238E27FC236}">
                <a16:creationId xmlns:a16="http://schemas.microsoft.com/office/drawing/2014/main" id="{1C60FE5E-A1B7-4AE2-A186-C116DE591C65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" t="2865" r="849" b="2680"/>
          <a:stretch/>
        </p:blipFill>
        <p:spPr>
          <a:xfrm>
            <a:off x="119846" y="1693944"/>
            <a:ext cx="5968754" cy="3470112"/>
          </a:xfrm>
          <a:prstGeom prst="rect">
            <a:avLst/>
          </a:prstGeom>
          <a:ln>
            <a:noFill/>
          </a:ln>
        </p:spPr>
      </p:pic>
      <p:pic>
        <p:nvPicPr>
          <p:cNvPr id="7" name="Image 5">
            <a:extLst>
              <a:ext uri="{FF2B5EF4-FFF2-40B4-BE49-F238E27FC236}">
                <a16:creationId xmlns:a16="http://schemas.microsoft.com/office/drawing/2014/main" id="{1604B4D0-8B07-430B-A92B-B75B52BF9A7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578" y="1586035"/>
            <a:ext cx="5958407" cy="368592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5771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F89CEE-D324-4E5E-A600-F4FCBB600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12">
            <a:extLst>
              <a:ext uri="{FF2B5EF4-FFF2-40B4-BE49-F238E27FC236}">
                <a16:creationId xmlns:a16="http://schemas.microsoft.com/office/drawing/2014/main" id="{9508B63E-E6D1-41D6-9BF9-14455A277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636" y="521293"/>
            <a:ext cx="11622012" cy="581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1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Image 6"/>
          <p:cNvPicPr/>
          <p:nvPr/>
        </p:nvPicPr>
        <p:blipFill>
          <a:blip r:embed="rId2"/>
          <a:stretch/>
        </p:blipFill>
        <p:spPr>
          <a:xfrm>
            <a:off x="6095880" y="135360"/>
            <a:ext cx="5976360" cy="2986560"/>
          </a:xfrm>
          <a:prstGeom prst="rect">
            <a:avLst/>
          </a:prstGeom>
          <a:ln>
            <a:noFill/>
          </a:ln>
        </p:spPr>
      </p:pic>
      <p:sp>
        <p:nvSpPr>
          <p:cNvPr id="197" name="CustomShape 1"/>
          <p:cNvSpPr/>
          <p:nvPr/>
        </p:nvSpPr>
        <p:spPr>
          <a:xfrm>
            <a:off x="70200" y="3134160"/>
            <a:ext cx="12001320" cy="81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fr-FR" sz="1200" b="1" i="1" u="sng" strike="noStrike" spc="-1">
                <a:solidFill>
                  <a:srgbClr val="000000"/>
                </a:solidFill>
                <a:uFillTx/>
                <a:latin typeface="Calibri"/>
                <a:ea typeface="DejaVu Sans"/>
              </a:rPr>
              <a:t>Figure 5 :</a:t>
            </a:r>
            <a:r>
              <a:rPr lang="fr-FR" sz="1200" b="1" strike="noStrike" spc="-1">
                <a:solidFill>
                  <a:srgbClr val="000000"/>
                </a:solidFill>
                <a:latin typeface="Calibri"/>
                <a:ea typeface="DejaVu Sans"/>
              </a:rPr>
              <a:t> Profil d’expression des gènes marqueurs sélectionnés selon les types cellulaires tumoraux et les patients atteints de MpBC.</a:t>
            </a:r>
            <a:br/>
            <a:r>
              <a:rPr lang="fr-FR" sz="12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Représentation DotPlot de l’expression normalisée de gènes sélectionnés, associés aux différents clusters des sous-types tumoraux </a:t>
            </a:r>
            <a:r>
              <a:rPr lang="fr-FR" sz="1200" b="1" strike="noStrike" spc="-1">
                <a:solidFill>
                  <a:srgbClr val="000000"/>
                </a:solidFill>
                <a:latin typeface="Calibri"/>
                <a:ea typeface="DejaVu Sans"/>
              </a:rPr>
              <a:t>(A)</a:t>
            </a:r>
            <a:r>
              <a:rPr lang="fr-FR" sz="1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ou répartis parmi les 16 patients </a:t>
            </a:r>
            <a:r>
              <a:rPr lang="fr-FR" sz="1200" b="1" strike="noStrike" spc="-1">
                <a:solidFill>
                  <a:srgbClr val="000000"/>
                </a:solidFill>
                <a:latin typeface="Calibri"/>
                <a:ea typeface="DejaVu Sans"/>
              </a:rPr>
              <a:t>(B)</a:t>
            </a:r>
            <a:r>
              <a:rPr lang="fr-FR" sz="12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br/>
            <a:r>
              <a:rPr lang="fr-FR" sz="1200" b="0" strike="noStrike" spc="-1">
                <a:solidFill>
                  <a:srgbClr val="000000"/>
                </a:solidFill>
                <a:latin typeface="Calibri"/>
                <a:ea typeface="DejaVu Sans"/>
              </a:rPr>
              <a:t>Chaque point représente l’expression moyenne d’un gène dans un type cellulaire donné </a:t>
            </a:r>
            <a:r>
              <a:rPr lang="fr-FR" sz="1200" b="1" strike="noStrike" spc="-1">
                <a:solidFill>
                  <a:srgbClr val="000000"/>
                </a:solidFill>
                <a:latin typeface="Calibri"/>
                <a:ea typeface="DejaVu Sans"/>
              </a:rPr>
              <a:t>(A) </a:t>
            </a:r>
            <a:r>
              <a:rPr lang="fr-FR" sz="1200" b="0" strike="noStrike" spc="-1">
                <a:solidFill>
                  <a:srgbClr val="000000"/>
                </a:solidFill>
                <a:latin typeface="Calibri"/>
                <a:ea typeface="DejaVu Sans"/>
              </a:rPr>
              <a:t>ou chez un patient </a:t>
            </a:r>
            <a:r>
              <a:rPr lang="fr-FR" sz="1200" b="1" strike="noStrike" spc="-1">
                <a:solidFill>
                  <a:srgbClr val="000000"/>
                </a:solidFill>
                <a:latin typeface="Calibri"/>
                <a:ea typeface="DejaVu Sans"/>
              </a:rPr>
              <a:t>(B)</a:t>
            </a:r>
            <a:r>
              <a:rPr lang="fr-FR" sz="1200" b="0" strike="noStrike" spc="-1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lang="fr-FR" sz="1200" b="1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fr-FR" sz="1200" b="0" strike="noStrike" spc="-1">
                <a:solidFill>
                  <a:srgbClr val="000000"/>
                </a:solidFill>
                <a:latin typeface="Calibri"/>
                <a:ea typeface="DejaVu Sans"/>
              </a:rPr>
              <a:t>la taille du point indiquant la proportion de cellules exprimant le gène, et la couleur du point reflétant l’intensité moyenne d’expression normalisée</a:t>
            </a:r>
            <a:r>
              <a:rPr lang="fr-FR" sz="1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70920" y="35640"/>
            <a:ext cx="12007800" cy="3086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" name="CustomShape 3"/>
          <p:cNvSpPr/>
          <p:nvPr/>
        </p:nvSpPr>
        <p:spPr>
          <a:xfrm>
            <a:off x="24480" y="17280"/>
            <a:ext cx="288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00" name="CustomShape 4"/>
          <p:cNvSpPr/>
          <p:nvPr/>
        </p:nvSpPr>
        <p:spPr>
          <a:xfrm>
            <a:off x="5927400" y="17280"/>
            <a:ext cx="288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B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01" name="Image 2"/>
          <p:cNvPicPr/>
          <p:nvPr/>
        </p:nvPicPr>
        <p:blipFill>
          <a:blip r:embed="rId3"/>
          <a:stretch/>
        </p:blipFill>
        <p:spPr>
          <a:xfrm>
            <a:off x="109440" y="46454"/>
            <a:ext cx="5851080" cy="2923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916F6D6E-EDA9-45BB-B0B8-28A8F5D78F94}"/>
              </a:ext>
            </a:extLst>
          </p:cNvPr>
          <p:cNvGrpSpPr/>
          <p:nvPr/>
        </p:nvGrpSpPr>
        <p:grpSpPr>
          <a:xfrm>
            <a:off x="0" y="665280"/>
            <a:ext cx="12792240" cy="5467680"/>
            <a:chOff x="0" y="665280"/>
            <a:chExt cx="12792240" cy="5467680"/>
          </a:xfrm>
        </p:grpSpPr>
        <p:sp>
          <p:nvSpPr>
            <p:cNvPr id="233" name="Line 1"/>
            <p:cNvSpPr/>
            <p:nvPr/>
          </p:nvSpPr>
          <p:spPr>
            <a:xfrm>
              <a:off x="12792240" y="1868760"/>
              <a:ext cx="0" cy="4264200"/>
            </a:xfrm>
            <a:prstGeom prst="line">
              <a:avLst/>
            </a:prstGeom>
            <a:ln w="126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234" name="Group 2"/>
            <p:cNvGrpSpPr/>
            <p:nvPr/>
          </p:nvGrpSpPr>
          <p:grpSpPr>
            <a:xfrm>
              <a:off x="0" y="665280"/>
              <a:ext cx="12072240" cy="5221080"/>
              <a:chOff x="0" y="665280"/>
              <a:chExt cx="12072240" cy="5221080"/>
            </a:xfrm>
          </p:grpSpPr>
          <p:pic>
            <p:nvPicPr>
              <p:cNvPr id="235" name="Image 6_1"/>
              <p:cNvPicPr/>
              <p:nvPr/>
            </p:nvPicPr>
            <p:blipFill>
              <a:blip r:embed="rId2"/>
              <a:srcRect l="2779"/>
              <a:stretch/>
            </p:blipFill>
            <p:spPr>
              <a:xfrm>
                <a:off x="2929680" y="961200"/>
                <a:ext cx="9142560" cy="492516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236" name="CustomShape 3"/>
              <p:cNvSpPr/>
              <p:nvPr/>
            </p:nvSpPr>
            <p:spPr>
              <a:xfrm>
                <a:off x="584280" y="665280"/>
                <a:ext cx="1915200" cy="2721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fr-FR" sz="1200" b="1" u="sng" strike="noStrike" spc="-1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Tumoral compartments</a:t>
                </a:r>
                <a:endParaRPr lang="en-US" sz="1200" b="0" strike="noStrike" spc="-1">
                  <a:latin typeface="Arial"/>
                </a:endParaRPr>
              </a:p>
            </p:txBody>
          </p:sp>
          <p:sp>
            <p:nvSpPr>
              <p:cNvPr id="237" name="CustomShape 4"/>
              <p:cNvSpPr/>
              <p:nvPr/>
            </p:nvSpPr>
            <p:spPr>
              <a:xfrm>
                <a:off x="2618640" y="665280"/>
                <a:ext cx="1146240" cy="2721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fr-FR" sz="1200" b="1" u="sng" strike="noStrike" spc="-1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Patient</a:t>
                </a:r>
                <a:endParaRPr lang="en-US" sz="1200" b="0" strike="noStrike" spc="-1">
                  <a:latin typeface="Arial"/>
                </a:endParaRPr>
              </a:p>
            </p:txBody>
          </p:sp>
          <p:sp>
            <p:nvSpPr>
              <p:cNvPr id="238" name="CustomShape 5"/>
              <p:cNvSpPr/>
              <p:nvPr/>
            </p:nvSpPr>
            <p:spPr>
              <a:xfrm>
                <a:off x="0" y="993600"/>
                <a:ext cx="2499120" cy="40323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ED7D31"/>
                    </a:solidFill>
                    <a:latin typeface="Arial"/>
                    <a:ea typeface="DejaVu Sans"/>
                  </a:rPr>
                  <a:t>Epithelial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 err="1">
                    <a:solidFill>
                      <a:srgbClr val="806000"/>
                    </a:solidFill>
                    <a:latin typeface="Arial"/>
                    <a:ea typeface="DejaVu Sans"/>
                  </a:rPr>
                  <a:t>Chondroid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ED7D31"/>
                    </a:solidFill>
                    <a:latin typeface="Arial"/>
                    <a:ea typeface="DejaVu Sans"/>
                  </a:rPr>
                  <a:t>Epithelial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 err="1">
                    <a:solidFill>
                      <a:srgbClr val="806000"/>
                    </a:solidFill>
                    <a:latin typeface="Arial"/>
                    <a:ea typeface="DejaVu Sans"/>
                  </a:rPr>
                  <a:t>Chondroid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ED7D31"/>
                    </a:solidFill>
                    <a:latin typeface="Arial"/>
                    <a:ea typeface="DejaVu Sans"/>
                  </a:rPr>
                  <a:t>Epithelial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>
                    <a:solidFill>
                      <a:srgbClr val="4472C4"/>
                    </a:solidFill>
                    <a:latin typeface="Arial"/>
                    <a:ea typeface="DejaVu Sans"/>
                  </a:rPr>
                  <a:t>Spindle-cell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ED7D31"/>
                    </a:solidFill>
                    <a:latin typeface="Arial"/>
                    <a:ea typeface="DejaVu Sans"/>
                  </a:rPr>
                  <a:t>Epithelial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 err="1">
                    <a:solidFill>
                      <a:srgbClr val="806000"/>
                    </a:solidFill>
                    <a:latin typeface="Arial"/>
                    <a:ea typeface="DejaVu Sans"/>
                  </a:rPr>
                  <a:t>Chondroid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ED7D31"/>
                    </a:solidFill>
                    <a:latin typeface="Arial"/>
                    <a:ea typeface="DejaVu Sans"/>
                  </a:rPr>
                  <a:t>Epithelial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>
                    <a:solidFill>
                      <a:srgbClr val="4472C4"/>
                    </a:solidFill>
                    <a:latin typeface="Arial"/>
                    <a:ea typeface="DejaVu Sans"/>
                  </a:rPr>
                  <a:t>Spindle-cell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ED7D31"/>
                    </a:solidFill>
                    <a:latin typeface="Arial"/>
                    <a:ea typeface="DejaVu Sans"/>
                  </a:rPr>
                  <a:t>Epithelial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>
                    <a:solidFill>
                      <a:srgbClr val="4472C4"/>
                    </a:solidFill>
                    <a:latin typeface="Arial"/>
                    <a:ea typeface="DejaVu Sans"/>
                  </a:rPr>
                  <a:t>Spindle-cell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ED7D31"/>
                    </a:solidFill>
                    <a:latin typeface="Arial"/>
                    <a:ea typeface="DejaVu Sans"/>
                  </a:rPr>
                  <a:t>Epithelial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 err="1">
                    <a:solidFill>
                      <a:srgbClr val="806000"/>
                    </a:solidFill>
                    <a:latin typeface="Arial"/>
                    <a:ea typeface="DejaVu Sans"/>
                  </a:rPr>
                  <a:t>Chondroid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A6A6A6"/>
                    </a:solidFill>
                    <a:latin typeface="Arial"/>
                    <a:ea typeface="DejaVu Sans"/>
                  </a:rPr>
                  <a:t>Epidermoid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 err="1">
                    <a:solidFill>
                      <a:srgbClr val="00B0F0"/>
                    </a:solidFill>
                    <a:latin typeface="Arial"/>
                    <a:ea typeface="DejaVu Sans"/>
                  </a:rPr>
                  <a:t>Mesenchymal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>
                    <a:solidFill>
                      <a:srgbClr val="4472C4"/>
                    </a:solidFill>
                    <a:latin typeface="Arial"/>
                    <a:ea typeface="DejaVu Sans"/>
                  </a:rPr>
                  <a:t>Spindle-cell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>
                    <a:solidFill>
                      <a:srgbClr val="4472C4"/>
                    </a:solidFill>
                    <a:latin typeface="Arial"/>
                    <a:ea typeface="DejaVu Sans"/>
                  </a:rPr>
                  <a:t>Spindle-cell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ED7D31"/>
                    </a:solidFill>
                    <a:latin typeface="Arial"/>
                    <a:ea typeface="DejaVu Sans"/>
                  </a:rPr>
                  <a:t>Epithelial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>
                    <a:solidFill>
                      <a:srgbClr val="4472C4"/>
                    </a:solidFill>
                    <a:latin typeface="Arial"/>
                    <a:ea typeface="DejaVu Sans"/>
                  </a:rPr>
                  <a:t>Spindle-cell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>
                    <a:solidFill>
                      <a:srgbClr val="4472C4"/>
                    </a:solidFill>
                    <a:latin typeface="Arial"/>
                    <a:ea typeface="DejaVu Sans"/>
                  </a:rPr>
                  <a:t>Spindle-cell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 err="1">
                    <a:solidFill>
                      <a:srgbClr val="000000"/>
                    </a:solidFill>
                    <a:latin typeface="Arial"/>
                    <a:ea typeface="DejaVu Sans"/>
                  </a:rPr>
                  <a:t>Osteosarcomatoid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A6A6A6"/>
                    </a:solidFill>
                    <a:latin typeface="Arial"/>
                    <a:ea typeface="DejaVu Sans"/>
                  </a:rPr>
                  <a:t>Epidermoid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>
                    <a:solidFill>
                      <a:srgbClr val="4472C4"/>
                    </a:solidFill>
                    <a:latin typeface="Arial"/>
                    <a:ea typeface="DejaVu Sans"/>
                  </a:rPr>
                  <a:t>Spindle-cell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ED7D31"/>
                    </a:solidFill>
                    <a:latin typeface="Arial"/>
                    <a:ea typeface="DejaVu Sans"/>
                  </a:rPr>
                  <a:t>Epithelial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>
                    <a:solidFill>
                      <a:srgbClr val="4472C4"/>
                    </a:solidFill>
                    <a:latin typeface="Arial"/>
                    <a:ea typeface="DejaVu Sans"/>
                  </a:rPr>
                  <a:t>Spindle-cell</a:t>
                </a:r>
                <a:endParaRPr lang="en-US" sz="1150" b="0" strike="noStrike" spc="-1" dirty="0">
                  <a:latin typeface="Arial"/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lang="fr-FR" sz="1150" b="1" strike="noStrike" spc="-1" dirty="0" err="1">
                    <a:solidFill>
                      <a:srgbClr val="ED7D31"/>
                    </a:solidFill>
                    <a:latin typeface="Arial"/>
                    <a:ea typeface="DejaVu Sans"/>
                  </a:rPr>
                  <a:t>Epithelial</a:t>
                </a:r>
                <a:r>
                  <a:rPr lang="fr-FR" sz="1150" b="0" strike="noStrike" spc="-1" dirty="0">
                    <a:solidFill>
                      <a:srgbClr val="000000"/>
                    </a:solidFill>
                    <a:latin typeface="Arial"/>
                    <a:ea typeface="DejaVu Sans"/>
                  </a:rPr>
                  <a:t> + </a:t>
                </a:r>
                <a:r>
                  <a:rPr lang="fr-FR" sz="1150" b="1" strike="noStrike" spc="-1" dirty="0" err="1">
                    <a:solidFill>
                      <a:srgbClr val="00B0F0"/>
                    </a:solidFill>
                    <a:latin typeface="Arial"/>
                    <a:ea typeface="DejaVu Sans"/>
                  </a:rPr>
                  <a:t>Mesenchymal</a:t>
                </a:r>
                <a:endParaRPr lang="en-US" sz="1150" b="0" strike="noStrike" spc="-1" dirty="0">
                  <a:latin typeface="Arial"/>
                </a:endParaRPr>
              </a:p>
            </p:txBody>
          </p:sp>
          <p:sp>
            <p:nvSpPr>
              <p:cNvPr id="239" name="CustomShape 6"/>
              <p:cNvSpPr/>
              <p:nvPr/>
            </p:nvSpPr>
            <p:spPr>
              <a:xfrm flipH="1">
                <a:off x="2499120" y="1185120"/>
                <a:ext cx="30636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40" name="CustomShape 7"/>
              <p:cNvSpPr/>
              <p:nvPr/>
            </p:nvSpPr>
            <p:spPr>
              <a:xfrm flipH="1">
                <a:off x="2499120" y="1449360"/>
                <a:ext cx="31140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41" name="CustomShape 8"/>
              <p:cNvSpPr/>
              <p:nvPr/>
            </p:nvSpPr>
            <p:spPr>
              <a:xfrm flipH="1">
                <a:off x="2499120" y="1710720"/>
                <a:ext cx="30636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42" name="CustomShape 9"/>
              <p:cNvSpPr/>
              <p:nvPr/>
            </p:nvSpPr>
            <p:spPr>
              <a:xfrm flipH="1">
                <a:off x="2499120" y="1974960"/>
                <a:ext cx="31140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43" name="CustomShape 10"/>
              <p:cNvSpPr/>
              <p:nvPr/>
            </p:nvSpPr>
            <p:spPr>
              <a:xfrm flipH="1">
                <a:off x="2499120" y="2259000"/>
                <a:ext cx="30636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44" name="CustomShape 11"/>
              <p:cNvSpPr/>
              <p:nvPr/>
            </p:nvSpPr>
            <p:spPr>
              <a:xfrm flipH="1">
                <a:off x="2499120" y="2523600"/>
                <a:ext cx="31140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45" name="CustomShape 12"/>
              <p:cNvSpPr/>
              <p:nvPr/>
            </p:nvSpPr>
            <p:spPr>
              <a:xfrm flipH="1">
                <a:off x="2499120" y="2784600"/>
                <a:ext cx="30636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46" name="CustomShape 13"/>
              <p:cNvSpPr/>
              <p:nvPr/>
            </p:nvSpPr>
            <p:spPr>
              <a:xfrm flipH="1">
                <a:off x="2499120" y="3049200"/>
                <a:ext cx="31140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47" name="CustomShape 14"/>
              <p:cNvSpPr/>
              <p:nvPr/>
            </p:nvSpPr>
            <p:spPr>
              <a:xfrm flipH="1">
                <a:off x="2501280" y="3296520"/>
                <a:ext cx="30636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48" name="CustomShape 15"/>
              <p:cNvSpPr/>
              <p:nvPr/>
            </p:nvSpPr>
            <p:spPr>
              <a:xfrm flipH="1">
                <a:off x="2501280" y="3560760"/>
                <a:ext cx="31140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49" name="CustomShape 16"/>
              <p:cNvSpPr/>
              <p:nvPr/>
            </p:nvSpPr>
            <p:spPr>
              <a:xfrm flipH="1">
                <a:off x="2501280" y="3822120"/>
                <a:ext cx="30636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0" name="CustomShape 17"/>
              <p:cNvSpPr/>
              <p:nvPr/>
            </p:nvSpPr>
            <p:spPr>
              <a:xfrm flipH="1">
                <a:off x="2501280" y="4086360"/>
                <a:ext cx="31140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1" name="CustomShape 18"/>
              <p:cNvSpPr/>
              <p:nvPr/>
            </p:nvSpPr>
            <p:spPr>
              <a:xfrm flipH="1">
                <a:off x="2501280" y="4352040"/>
                <a:ext cx="30636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2" name="CustomShape 19"/>
              <p:cNvSpPr/>
              <p:nvPr/>
            </p:nvSpPr>
            <p:spPr>
              <a:xfrm flipH="1">
                <a:off x="2501280" y="4616280"/>
                <a:ext cx="31140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3" name="CustomShape 20"/>
              <p:cNvSpPr/>
              <p:nvPr/>
            </p:nvSpPr>
            <p:spPr>
              <a:xfrm flipH="1">
                <a:off x="2501280" y="4877640"/>
                <a:ext cx="306360" cy="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634D38FC-7053-484C-93F9-9A762EB0959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7092" y="2003714"/>
            <a:ext cx="5347945" cy="2850571"/>
          </a:xfrm>
          <a:prstGeom prst="rect">
            <a:avLst/>
          </a:prstGeom>
          <a:ln>
            <a:noFill/>
          </a:ln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2B4C31D-4BED-425B-8B32-92D16A0B9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945" y="1875525"/>
            <a:ext cx="6844055" cy="302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5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9AE3D6A-DE64-469A-AED4-2FA3002D0FB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114491" y="844778"/>
            <a:ext cx="2973389" cy="2584221"/>
          </a:xfrm>
          <a:prstGeom prst="rect">
            <a:avLst/>
          </a:prstGeom>
          <a:ln w="18360">
            <a:solidFill>
              <a:srgbClr val="000000"/>
            </a:solidFill>
            <a:round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995CE1D-B16B-498F-B70B-4DA1807D3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44779"/>
            <a:ext cx="3043027" cy="25842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7760048-B7E4-48F2-8E27-12FE55B5EE51}"/>
              </a:ext>
            </a:extLst>
          </p:cNvPr>
          <p:cNvSpPr txBox="1"/>
          <p:nvPr/>
        </p:nvSpPr>
        <p:spPr>
          <a:xfrm>
            <a:off x="3856587" y="559841"/>
            <a:ext cx="14621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Sous-type chondroïde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83CE2D-4358-461C-AFD7-6E744119F9BA}"/>
              </a:ext>
            </a:extLst>
          </p:cNvPr>
          <p:cNvSpPr/>
          <p:nvPr/>
        </p:nvSpPr>
        <p:spPr>
          <a:xfrm>
            <a:off x="3095807" y="3753087"/>
            <a:ext cx="3000461" cy="25901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49D06F-9079-4D97-899B-954087EA7068}"/>
              </a:ext>
            </a:extLst>
          </p:cNvPr>
          <p:cNvSpPr/>
          <p:nvPr/>
        </p:nvSpPr>
        <p:spPr>
          <a:xfrm>
            <a:off x="6095733" y="3753087"/>
            <a:ext cx="3034904" cy="25901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9CDF484-12A7-451A-9892-1F6BA362173B}"/>
              </a:ext>
            </a:extLst>
          </p:cNvPr>
          <p:cNvSpPr txBox="1"/>
          <p:nvPr/>
        </p:nvSpPr>
        <p:spPr>
          <a:xfrm>
            <a:off x="6886451" y="559841"/>
            <a:ext cx="14621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Sous-type </a:t>
            </a:r>
            <a:r>
              <a:rPr lang="fr-FR" sz="1100" b="1" dirty="0" err="1"/>
              <a:t>spindle</a:t>
            </a:r>
            <a:r>
              <a:rPr lang="fr-FR" sz="1100" b="1" dirty="0"/>
              <a:t>-cell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01D61FE-D26B-4198-920E-2ED44BFCBFB6}"/>
              </a:ext>
            </a:extLst>
          </p:cNvPr>
          <p:cNvSpPr txBox="1"/>
          <p:nvPr/>
        </p:nvSpPr>
        <p:spPr>
          <a:xfrm>
            <a:off x="3631304" y="3486296"/>
            <a:ext cx="1912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Sous-type ostéosarcomatoïde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95F05F7-5F07-46FE-85AE-092D84C9D263}"/>
              </a:ext>
            </a:extLst>
          </p:cNvPr>
          <p:cNvSpPr txBox="1"/>
          <p:nvPr/>
        </p:nvSpPr>
        <p:spPr>
          <a:xfrm>
            <a:off x="6824598" y="3477907"/>
            <a:ext cx="15432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Sous-type épidermoïde</a:t>
            </a:r>
          </a:p>
        </p:txBody>
      </p:sp>
    </p:spTree>
    <p:extLst>
      <p:ext uri="{BB962C8B-B14F-4D97-AF65-F5344CB8AC3E}">
        <p14:creationId xmlns:p14="http://schemas.microsoft.com/office/powerpoint/2010/main" val="2641609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9AE3D6A-DE64-469A-AED4-2FA3002D0FB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26478" y="2394285"/>
            <a:ext cx="2610363" cy="2350566"/>
          </a:xfrm>
          <a:prstGeom prst="rect">
            <a:avLst/>
          </a:prstGeom>
          <a:ln w="18360">
            <a:solidFill>
              <a:srgbClr val="000000"/>
            </a:solidFill>
            <a:round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995CE1D-B16B-498F-B70B-4DA1807D3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649" y="2394285"/>
            <a:ext cx="2767889" cy="235056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7760048-B7E4-48F2-8E27-12FE55B5EE51}"/>
              </a:ext>
            </a:extLst>
          </p:cNvPr>
          <p:cNvSpPr txBox="1"/>
          <p:nvPr/>
        </p:nvSpPr>
        <p:spPr>
          <a:xfrm>
            <a:off x="1193948" y="2078380"/>
            <a:ext cx="1470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Sous-type chondroïde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83CE2D-4358-461C-AFD7-6E744119F9BA}"/>
              </a:ext>
            </a:extLst>
          </p:cNvPr>
          <p:cNvSpPr/>
          <p:nvPr/>
        </p:nvSpPr>
        <p:spPr>
          <a:xfrm>
            <a:off x="6034155" y="2381941"/>
            <a:ext cx="2634130" cy="23629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49D06F-9079-4D97-899B-954087EA7068}"/>
              </a:ext>
            </a:extLst>
          </p:cNvPr>
          <p:cNvSpPr/>
          <p:nvPr/>
        </p:nvSpPr>
        <p:spPr>
          <a:xfrm>
            <a:off x="8668285" y="2385896"/>
            <a:ext cx="2664368" cy="23622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9CDF484-12A7-451A-9892-1F6BA362173B}"/>
              </a:ext>
            </a:extLst>
          </p:cNvPr>
          <p:cNvSpPr txBox="1"/>
          <p:nvPr/>
        </p:nvSpPr>
        <p:spPr>
          <a:xfrm>
            <a:off x="3904205" y="2083365"/>
            <a:ext cx="1470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Sous-type </a:t>
            </a:r>
            <a:r>
              <a:rPr lang="fr-FR" sz="1100" b="1" dirty="0" err="1"/>
              <a:t>spindle</a:t>
            </a:r>
            <a:r>
              <a:rPr lang="fr-FR" sz="1100" b="1" dirty="0"/>
              <a:t>-cell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01D61FE-D26B-4198-920E-2ED44BFCBFB6}"/>
              </a:ext>
            </a:extLst>
          </p:cNvPr>
          <p:cNvSpPr txBox="1"/>
          <p:nvPr/>
        </p:nvSpPr>
        <p:spPr>
          <a:xfrm>
            <a:off x="6383169" y="2078380"/>
            <a:ext cx="19361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Sous-type ostéosarcomatoïde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95F05F7-5F07-46FE-85AE-092D84C9D263}"/>
              </a:ext>
            </a:extLst>
          </p:cNvPr>
          <p:cNvSpPr txBox="1"/>
          <p:nvPr/>
        </p:nvSpPr>
        <p:spPr>
          <a:xfrm>
            <a:off x="9217007" y="2078380"/>
            <a:ext cx="1566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Sous-type épidermoïde</a:t>
            </a:r>
          </a:p>
        </p:txBody>
      </p:sp>
    </p:spTree>
    <p:extLst>
      <p:ext uri="{BB962C8B-B14F-4D97-AF65-F5344CB8AC3E}">
        <p14:creationId xmlns:p14="http://schemas.microsoft.com/office/powerpoint/2010/main" val="3489386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170</Words>
  <Application>Microsoft Office PowerPoint</Application>
  <PresentationFormat>Grand écran</PresentationFormat>
  <Paragraphs>30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DejaVu Sans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bioinfo</dc:creator>
  <cp:lastModifiedBy>bioinfo</cp:lastModifiedBy>
  <cp:revision>10</cp:revision>
  <dcterms:created xsi:type="dcterms:W3CDTF">2025-06-11T08:12:41Z</dcterms:created>
  <dcterms:modified xsi:type="dcterms:W3CDTF">2025-06-15T15:51:40Z</dcterms:modified>
</cp:coreProperties>
</file>