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65" r:id="rId3"/>
    <p:sldId id="298" r:id="rId4"/>
    <p:sldId id="299" r:id="rId5"/>
    <p:sldId id="300" r:id="rId6"/>
    <p:sldId id="269" r:id="rId7"/>
    <p:sldId id="303" r:id="rId8"/>
    <p:sldId id="304" r:id="rId9"/>
    <p:sldId id="279" r:id="rId10"/>
    <p:sldId id="280" r:id="rId11"/>
    <p:sldId id="286" r:id="rId12"/>
    <p:sldId id="266" r:id="rId13"/>
    <p:sldId id="291" r:id="rId14"/>
    <p:sldId id="295" r:id="rId15"/>
    <p:sldId id="263" r:id="rId16"/>
    <p:sldId id="292" r:id="rId17"/>
    <p:sldId id="296" r:id="rId18"/>
    <p:sldId id="264" r:id="rId19"/>
    <p:sldId id="294" r:id="rId20"/>
    <p:sldId id="293" r:id="rId21"/>
    <p:sldId id="267" r:id="rId22"/>
    <p:sldId id="268" r:id="rId23"/>
    <p:sldId id="271" r:id="rId24"/>
    <p:sldId id="272" r:id="rId25"/>
    <p:sldId id="287" r:id="rId26"/>
    <p:sldId id="288" r:id="rId27"/>
    <p:sldId id="289" r:id="rId28"/>
    <p:sldId id="290" r:id="rId29"/>
    <p:sldId id="297" r:id="rId30"/>
    <p:sldId id="283" r:id="rId31"/>
    <p:sldId id="282" r:id="rId32"/>
    <p:sldId id="285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95"/>
    <a:srgbClr val="F39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7403" autoAdjust="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268D1-9F0C-4F67-885C-30BA5C7BB62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B6E1F-CF8B-4424-9268-CBBB4BA7FB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03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solidFill>
                  <a:srgbClr val="006795"/>
                </a:solidFill>
              </a:rPr>
              <a:t>Les MpBC (</a:t>
            </a:r>
            <a:r>
              <a:rPr lang="fr-FR" dirty="0" err="1">
                <a:solidFill>
                  <a:srgbClr val="006795"/>
                </a:solidFill>
              </a:rPr>
              <a:t>Metaplastic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Breast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Carcinomas</a:t>
            </a:r>
            <a:r>
              <a:rPr lang="fr-FR" dirty="0">
                <a:solidFill>
                  <a:srgbClr val="006795"/>
                </a:solidFill>
              </a:rPr>
              <a:t>) sont : Formes rares, agressives et invasives du </a:t>
            </a:r>
            <a:r>
              <a:rPr lang="fr-FR" b="1" dirty="0">
                <a:solidFill>
                  <a:srgbClr val="006795"/>
                </a:solidFill>
              </a:rPr>
              <a:t>cancer sein triple négatif -</a:t>
            </a:r>
            <a:r>
              <a:rPr lang="fr-FR" dirty="0">
                <a:solidFill>
                  <a:srgbClr val="006795"/>
                </a:solidFill>
              </a:rPr>
              <a:t>Absence d’expression des récepteurs à l’œstrogène (ER), progestérone (PR) et HER2 - Thérapies classiques du cancer du sein inefficaces.</a:t>
            </a:r>
          </a:p>
          <a:p>
            <a:endParaRPr lang="fr-FR" dirty="0">
              <a:solidFill>
                <a:srgbClr val="006795"/>
              </a:solidFill>
            </a:endParaRPr>
          </a:p>
          <a:p>
            <a:r>
              <a:rPr lang="fr-FR" dirty="0">
                <a:solidFill>
                  <a:srgbClr val="006795"/>
                </a:solidFill>
              </a:rPr>
              <a:t>Les MpBC (</a:t>
            </a:r>
            <a:r>
              <a:rPr lang="fr-FR" dirty="0" err="1">
                <a:solidFill>
                  <a:srgbClr val="006795"/>
                </a:solidFill>
              </a:rPr>
              <a:t>Metaplastic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Breast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Carcinomas</a:t>
            </a:r>
            <a:r>
              <a:rPr lang="fr-FR" dirty="0">
                <a:solidFill>
                  <a:srgbClr val="006795"/>
                </a:solidFill>
              </a:rPr>
              <a:t>) sont :</a:t>
            </a:r>
          </a:p>
          <a:p>
            <a:pPr lvl="1"/>
            <a:r>
              <a:rPr lang="fr-FR" dirty="0">
                <a:solidFill>
                  <a:srgbClr val="006795"/>
                </a:solidFill>
              </a:rPr>
              <a:t>Très </a:t>
            </a:r>
            <a:r>
              <a:rPr lang="fr-FR" b="1" dirty="0">
                <a:solidFill>
                  <a:srgbClr val="006795"/>
                </a:solidFill>
              </a:rPr>
              <a:t>mal caractérisés</a:t>
            </a:r>
          </a:p>
          <a:p>
            <a:pPr lvl="2"/>
            <a:r>
              <a:rPr lang="fr-FR" dirty="0">
                <a:solidFill>
                  <a:srgbClr val="006795"/>
                </a:solidFill>
              </a:rPr>
              <a:t>Uniquement diagnostiqués </a:t>
            </a:r>
            <a:r>
              <a:rPr lang="fr-FR" b="1" dirty="0" err="1">
                <a:solidFill>
                  <a:srgbClr val="006795"/>
                </a:solidFill>
              </a:rPr>
              <a:t>histopathologiquement</a:t>
            </a:r>
            <a:endParaRPr lang="fr-FR" b="1" dirty="0">
              <a:solidFill>
                <a:srgbClr val="006795"/>
              </a:solidFill>
            </a:endParaRPr>
          </a:p>
          <a:p>
            <a:pPr lvl="2"/>
            <a:r>
              <a:rPr lang="fr-FR" b="1" dirty="0">
                <a:solidFill>
                  <a:srgbClr val="006795"/>
                </a:solidFill>
              </a:rPr>
              <a:t>Aucun marqueur moléculaire </a:t>
            </a:r>
            <a:r>
              <a:rPr lang="fr-FR" dirty="0">
                <a:solidFill>
                  <a:srgbClr val="006795"/>
                </a:solidFill>
              </a:rPr>
              <a:t>spécifique</a:t>
            </a:r>
          </a:p>
          <a:p>
            <a:endParaRPr lang="fr-FR" dirty="0">
              <a:solidFill>
                <a:srgbClr val="006795"/>
              </a:solidFill>
            </a:endParaRPr>
          </a:p>
          <a:p>
            <a:pPr lvl="2"/>
            <a:endParaRPr lang="fr-FR" dirty="0">
              <a:solidFill>
                <a:srgbClr val="006795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B6E1F-CF8B-4424-9268-CBBB4BA7FB6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24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B6E1F-CF8B-4424-9268-CBBB4BA7FB6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1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4BF68F-2D56-490B-A9A5-0AD5935D1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EC6A62-0F90-4A25-9776-07CC47AC1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327065-CB6C-4B89-9D63-F90FFDA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FAC7F4-C55B-4ABC-8479-6AE88024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4741D1-014B-465A-B57C-BC74C310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6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B3639-87C8-4C9F-9536-BAD50219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2C4D1-337F-4C5F-AA19-DFBCB3BA2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C9BB6F-785D-4C16-B251-5008DA56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398643-55DE-48F1-A75C-C0F86016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E9B7A6-49CD-467C-8361-37EB2A14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30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EB835-EDFF-476B-B145-EDD0B5978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67B636-1A7D-4C68-9CD3-03E8F1C3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3BD121-FFCA-4F98-B75D-6D519F0F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6FBDE1-6C3B-44FF-9D02-7F2A4E76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04C5C7-8C7F-483F-B9EE-73142139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9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65167-5C8C-47D3-9A13-FBB2A049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831034-5D0B-42BB-98AB-7B132BE8C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839ACA-5F99-4F01-BF15-3351A386A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20CB15-2106-4A22-98AA-AD8F72E3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176959-36F6-4723-B13A-193144E8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5950B2-73E6-412B-9EAD-102C2603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48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641403-159A-44BF-95D1-C908EA55A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E5A278-33C3-4E47-A00F-8A4022B3A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7D23C3-35AE-4823-8F43-B1096F858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D9CF256-6F57-41E6-A3F7-ED4928129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5B8A34-07CB-4016-B8B2-EE3E46E2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836625-430A-49E1-B64E-91141A81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49D7F0D-FAD1-477E-BC7A-AE03404E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7962BF-5830-4418-ADDB-CDF4E866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55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FA023-8779-440A-9306-934D30A0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FBD411-6F49-40AB-BFAF-88ED3935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D5D360-F954-4672-852F-BF2D1941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965967-2812-433A-A85B-864F011D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43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CF800C-FEA4-43E3-8B82-114533F5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241DB7-BC16-496C-9E0F-7F71F1C9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A9B860-DAD4-4EFA-B9BB-B9B5FDC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7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4C9E1-DDAB-4122-9AA8-CAFA3791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E70274-671D-4F71-A0E5-BAF5AAF8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B0E750-7069-478B-ADE9-E49AA8005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9B90E7-3CA7-4934-AFAE-77E59406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4AD2A2-9556-4F9E-B10E-5A607C20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01A029-6101-4D49-A5F7-C3CF4F50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97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8102C-C997-4D43-9411-3313934F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FDA4B7-77EF-4550-82DF-5596DA9F6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7F08A5-C250-4340-BD6B-4CC79A539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A67A51-743D-43B0-8299-ECC6DC1EC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ECD22A-53FA-4DCD-B7A0-12989D4E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BAE9F8-49FF-4E94-BF48-8F023842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66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19AA7-C9DA-4EDA-B884-065A2E6B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E90DDF-D28B-4C60-A3A4-1F333CAFA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129C94-DFDC-4333-AA0A-921E5727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B83981-5ECF-41B4-9225-20869090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AFF80F-5441-4876-BE52-EB64779B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17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570E6A6-A462-4B3D-8110-67B1E1D50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702C03-79A1-4BAC-9115-BB4124004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F7717-CD67-4EBD-ADCB-673E8857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625557-A1D4-4B54-8011-82DA025B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D9A9F-0EBD-458A-9659-01413626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65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57D3A9-EC49-4616-BA23-AD587FEC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F7ACF5-8451-4E48-B8E4-A2235355A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439237-DCC1-4AC0-B6EA-E4FDBBF20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7D510-BA25-4939-BAD5-8CAC4BEE6E72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A396FD-A8EC-4308-87EA-DCF5944EF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25A22-1395-4E09-BF83-B006DBF5F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4F7C2-5667-4187-986A-689B6FDF2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372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01646-D8FC-4ED9-85C0-39AF6F5FC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480680"/>
            <a:ext cx="11868149" cy="1710070"/>
          </a:xfrm>
        </p:spPr>
        <p:txBody>
          <a:bodyPr>
            <a:normAutofit fontScale="90000"/>
          </a:bodyPr>
          <a:lstStyle/>
          <a:p>
            <a:br>
              <a:rPr lang="fr-FR" b="1" u="sng" dirty="0">
                <a:solidFill>
                  <a:srgbClr val="F39224"/>
                </a:solidFill>
                <a:cs typeface="Arial" panose="020B0604020202020204" pitchFamily="34" charset="0"/>
              </a:rPr>
            </a:br>
            <a:r>
              <a:rPr lang="en-US" b="1" u="sng" dirty="0">
                <a:solidFill>
                  <a:srgbClr val="F39224"/>
                </a:solidFill>
                <a:cs typeface="Arial" panose="020B0604020202020204" pitchFamily="34" charset="0"/>
              </a:rPr>
              <a:t>Evolutionary determinants and trajectories of metaplastic breast carcinomas</a:t>
            </a:r>
            <a:endParaRPr lang="fr-FR" b="1" u="sng" dirty="0">
              <a:solidFill>
                <a:srgbClr val="F39224"/>
              </a:solidFill>
              <a:cs typeface="Arial" panose="020B060402020202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16378A-8C0C-44B4-9538-17A1016DD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7098"/>
            <a:ext cx="9144000" cy="1338279"/>
          </a:xfrm>
        </p:spPr>
        <p:txBody>
          <a:bodyPr>
            <a:normAutofit fontScale="92500" lnSpcReduction="10000"/>
          </a:bodyPr>
          <a:lstStyle/>
          <a:p>
            <a:r>
              <a:rPr lang="fr-FR" sz="2800" i="1" u="sng" dirty="0" err="1">
                <a:solidFill>
                  <a:srgbClr val="006795"/>
                </a:solidFill>
              </a:rPr>
              <a:t>Student</a:t>
            </a:r>
            <a:r>
              <a:rPr lang="fr-FR" sz="2800" i="1" dirty="0">
                <a:solidFill>
                  <a:srgbClr val="006795"/>
                </a:solidFill>
              </a:rPr>
              <a:t> : </a:t>
            </a:r>
            <a:r>
              <a:rPr lang="fr-FR" sz="2800" b="1" i="1" dirty="0">
                <a:solidFill>
                  <a:srgbClr val="006795"/>
                </a:solidFill>
              </a:rPr>
              <a:t>Jordan DUTEL</a:t>
            </a:r>
          </a:p>
          <a:p>
            <a:r>
              <a:rPr lang="fr-FR" sz="2600" i="1" u="sng" dirty="0" err="1">
                <a:solidFill>
                  <a:srgbClr val="006795"/>
                </a:solidFill>
              </a:rPr>
              <a:t>Tutor</a:t>
            </a:r>
            <a:r>
              <a:rPr lang="fr-FR" sz="2600" i="1" dirty="0">
                <a:solidFill>
                  <a:srgbClr val="006795"/>
                </a:solidFill>
              </a:rPr>
              <a:t> : Dr </a:t>
            </a:r>
            <a:r>
              <a:rPr lang="fr-FR" sz="2600" b="1" i="1" dirty="0">
                <a:solidFill>
                  <a:srgbClr val="006795"/>
                </a:solidFill>
              </a:rPr>
              <a:t>Pierre MARTINEZ</a:t>
            </a:r>
            <a:endParaRPr lang="fr-FR" sz="2600" i="1" u="sng" dirty="0">
              <a:solidFill>
                <a:srgbClr val="006795"/>
              </a:solidFill>
            </a:endParaRPr>
          </a:p>
          <a:p>
            <a:r>
              <a:rPr lang="fr-FR" sz="2600" i="1" u="sng" dirty="0">
                <a:solidFill>
                  <a:srgbClr val="006795"/>
                </a:solidFill>
              </a:rPr>
              <a:t>Team</a:t>
            </a:r>
            <a:r>
              <a:rPr lang="fr-FR" sz="2600" i="1" dirty="0">
                <a:solidFill>
                  <a:srgbClr val="006795"/>
                </a:solidFill>
              </a:rPr>
              <a:t> :  Prof </a:t>
            </a:r>
            <a:r>
              <a:rPr lang="fr-FR" sz="2600" b="1" i="1" dirty="0">
                <a:solidFill>
                  <a:srgbClr val="006795"/>
                </a:solidFill>
              </a:rPr>
              <a:t>Pierre SAINTIGNY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5665DE-A814-4985-B532-24BF56A03BBE}"/>
              </a:ext>
            </a:extLst>
          </p:cNvPr>
          <p:cNvSpPr txBox="1"/>
          <p:nvPr/>
        </p:nvSpPr>
        <p:spPr>
          <a:xfrm>
            <a:off x="3994484" y="4374674"/>
            <a:ext cx="4203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Oral </a:t>
            </a:r>
            <a:r>
              <a:rPr lang="fr-FR" sz="2400" b="1" dirty="0" err="1"/>
              <a:t>presentation</a:t>
            </a:r>
            <a:r>
              <a:rPr lang="fr-FR" sz="2400" b="1" dirty="0"/>
              <a:t> - ED </a:t>
            </a:r>
            <a:r>
              <a:rPr lang="fr-FR" sz="2400" b="1" dirty="0" err="1"/>
              <a:t>CanBioS</a:t>
            </a:r>
            <a:endParaRPr lang="fr-FR" sz="2400" b="1" dirty="0"/>
          </a:p>
          <a:p>
            <a:pPr algn="ctr"/>
            <a:r>
              <a:rPr lang="fr-FR" sz="2400" b="1" dirty="0"/>
              <a:t>July 03, 2025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C074BE6-4527-4301-90F1-B52F3F697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284" y="5372299"/>
            <a:ext cx="3844064" cy="100502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3E79A08-F16C-43E8-9424-5F1C984C1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52" y="5544969"/>
            <a:ext cx="3134317" cy="7353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12192000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394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00BA545-72DB-4D50-B267-0F004E54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307506-406B-4C31-A1F9-F6C91FD71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3" y="999073"/>
            <a:ext cx="10042358" cy="4547979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8E70DA-D750-411D-9907-3347FCE3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6" y="5679707"/>
            <a:ext cx="10291007" cy="945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 </a:t>
            </a:r>
            <a:r>
              <a:rPr lang="en-US" b="1" dirty="0">
                <a:solidFill>
                  <a:srgbClr val="006795"/>
                </a:solidFill>
              </a:rPr>
              <a:t>MpBC (Metaplastic Breast Carcinomas) are rare forms of TNBC, lacking molecular diagnostic markers and specific therapies</a:t>
            </a:r>
            <a:endParaRPr lang="fr-FR" dirty="0">
              <a:solidFill>
                <a:srgbClr val="006795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ABDC05F-36CE-4400-8858-FC7B15DEE04B}"/>
              </a:ext>
            </a:extLst>
          </p:cNvPr>
          <p:cNvSpPr txBox="1"/>
          <p:nvPr/>
        </p:nvSpPr>
        <p:spPr>
          <a:xfrm>
            <a:off x="8082208" y="419051"/>
            <a:ext cx="289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TNBC: Triple-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Negative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Breast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Cancer</a:t>
            </a:r>
          </a:p>
          <a:p>
            <a:pPr algn="r"/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TDLU: Terminal 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Duct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Lobular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Units</a:t>
            </a:r>
            <a:endParaRPr lang="fr-FR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06489-CE18-40BE-A720-5D1268C36AD2}"/>
              </a:ext>
            </a:extLst>
          </p:cNvPr>
          <p:cNvSpPr/>
          <p:nvPr/>
        </p:nvSpPr>
        <p:spPr>
          <a:xfrm>
            <a:off x="10908631" y="4805337"/>
            <a:ext cx="13956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808080"/>
                </a:solidFill>
                <a:latin typeface="Utopia-Regular"/>
              </a:rPr>
              <a:t>Taken from:</a:t>
            </a:r>
            <a:endParaRPr lang="fr-FR" sz="1100" i="1" u="sng" dirty="0">
              <a:solidFill>
                <a:srgbClr val="808080"/>
              </a:solidFill>
              <a:latin typeface="Utopia-Regular"/>
            </a:endParaRPr>
          </a:p>
          <a:p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Chang-Yun Li</a:t>
            </a:r>
          </a:p>
          <a:p>
            <a:r>
              <a:rPr lang="pl-PL" sz="1100" i="1" dirty="0">
                <a:solidFill>
                  <a:srgbClr val="808080"/>
                </a:solidFill>
                <a:latin typeface="Utopia-Regular"/>
              </a:rPr>
              <a:t>biomedcentral.com</a:t>
            </a:r>
            <a:endParaRPr lang="fr-FR" sz="1100" i="1" dirty="0">
              <a:solidFill>
                <a:srgbClr val="808080"/>
              </a:solidFill>
              <a:latin typeface="Utopia-Regular"/>
            </a:endParaRPr>
          </a:p>
          <a:p>
            <a:r>
              <a:rPr lang="pl-PL" sz="1100" i="1" dirty="0">
                <a:solidFill>
                  <a:srgbClr val="808080"/>
                </a:solidFill>
                <a:latin typeface="Utopia-Regular"/>
              </a:rPr>
              <a:t>(CC BY 4.0)</a:t>
            </a:r>
            <a:endParaRPr lang="fr-FR" sz="3200" i="1" dirty="0"/>
          </a:p>
        </p:txBody>
      </p:sp>
    </p:spTree>
    <p:extLst>
      <p:ext uri="{BB962C8B-B14F-4D97-AF65-F5344CB8AC3E}">
        <p14:creationId xmlns:p14="http://schemas.microsoft.com/office/powerpoint/2010/main" val="130126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00BA545-72DB-4D50-B267-0F004E54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307506-406B-4C31-A1F9-F6C91FD71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31" y="893353"/>
            <a:ext cx="8557337" cy="4913568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8E70DA-D750-411D-9907-3347FCE3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6" y="5951362"/>
            <a:ext cx="11866007" cy="9066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</a:t>
            </a:r>
            <a:r>
              <a:rPr lang="en-US" b="1" dirty="0">
                <a:solidFill>
                  <a:srgbClr val="006795"/>
                </a:solidFill>
              </a:rPr>
              <a:t> MpBC can transdifferentiate into various aggressive tumor subtypes</a:t>
            </a:r>
            <a:endParaRPr lang="fr-FR" sz="2400" b="1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90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00BA545-72DB-4D50-B267-0F004E54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307506-406B-4C31-A1F9-F6C91FD71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6" y="748913"/>
            <a:ext cx="6056678" cy="5337562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8E70DA-D750-411D-9907-3347FCE3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302773"/>
            <a:ext cx="5358064" cy="425245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6795"/>
                </a:solidFill>
              </a:rPr>
              <a:t>MpBC </a:t>
            </a:r>
            <a:r>
              <a:rPr lang="en-US" dirty="0">
                <a:solidFill>
                  <a:srgbClr val="006795"/>
                </a:solidFill>
              </a:rPr>
              <a:t>exhibits a remarkable </a:t>
            </a:r>
            <a:r>
              <a:rPr lang="en-US" b="1" dirty="0">
                <a:solidFill>
                  <a:srgbClr val="006795"/>
                </a:solidFill>
              </a:rPr>
              <a:t>plasticity</a:t>
            </a:r>
          </a:p>
          <a:p>
            <a:endParaRPr lang="en-US" b="1" dirty="0">
              <a:solidFill>
                <a:srgbClr val="006795"/>
              </a:solidFill>
            </a:endParaRPr>
          </a:p>
          <a:p>
            <a:r>
              <a:rPr lang="fr-FR" b="1" dirty="0" err="1">
                <a:solidFill>
                  <a:srgbClr val="006795"/>
                </a:solidFill>
              </a:rPr>
              <a:t>Transdifferenciation</a:t>
            </a:r>
            <a:r>
              <a:rPr lang="fr-FR" b="1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into</a:t>
            </a:r>
            <a:r>
              <a:rPr lang="fr-FR" dirty="0">
                <a:solidFill>
                  <a:srgbClr val="006795"/>
                </a:solidFill>
              </a:rPr>
              <a:t> multiple </a:t>
            </a:r>
            <a:r>
              <a:rPr lang="fr-FR" dirty="0" err="1">
                <a:solidFill>
                  <a:srgbClr val="006795"/>
                </a:solidFill>
              </a:rPr>
              <a:t>aggressive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b="1" dirty="0" err="1">
                <a:solidFill>
                  <a:srgbClr val="006795"/>
                </a:solidFill>
              </a:rPr>
              <a:t>tumor</a:t>
            </a:r>
            <a:r>
              <a:rPr lang="fr-FR" b="1" dirty="0">
                <a:solidFill>
                  <a:srgbClr val="006795"/>
                </a:solidFill>
              </a:rPr>
              <a:t> </a:t>
            </a:r>
            <a:r>
              <a:rPr lang="fr-FR" b="1" dirty="0" err="1">
                <a:solidFill>
                  <a:srgbClr val="006795"/>
                </a:solidFill>
              </a:rPr>
              <a:t>subtypes</a:t>
            </a:r>
            <a:endParaRPr lang="fr-FR" b="1" dirty="0">
              <a:solidFill>
                <a:srgbClr val="006795"/>
              </a:solidFill>
            </a:endParaRPr>
          </a:p>
          <a:p>
            <a:endParaRPr lang="fr-FR" b="1" dirty="0">
              <a:solidFill>
                <a:srgbClr val="006795"/>
              </a:solidFill>
            </a:endParaRPr>
          </a:p>
          <a:p>
            <a:r>
              <a:rPr lang="fr-FR" b="1" dirty="0">
                <a:solidFill>
                  <a:srgbClr val="006795"/>
                </a:solidFill>
              </a:rPr>
              <a:t>Mixed MpBC</a:t>
            </a:r>
          </a:p>
          <a:p>
            <a:pPr lvl="1"/>
            <a:r>
              <a:rPr lang="en-US" dirty="0">
                <a:solidFill>
                  <a:srgbClr val="006795"/>
                </a:solidFill>
              </a:rPr>
              <a:t>Each sample contains </a:t>
            </a:r>
            <a:r>
              <a:rPr lang="en-US" b="1" dirty="0">
                <a:solidFill>
                  <a:srgbClr val="006795"/>
                </a:solidFill>
              </a:rPr>
              <a:t>at least 2 </a:t>
            </a:r>
            <a:r>
              <a:rPr lang="fr-FR" b="1" dirty="0">
                <a:solidFill>
                  <a:srgbClr val="006795"/>
                </a:solidFill>
              </a:rPr>
              <a:t>tumoral </a:t>
            </a:r>
            <a:r>
              <a:rPr lang="fr-FR" b="1" dirty="0" err="1">
                <a:solidFill>
                  <a:srgbClr val="006795"/>
                </a:solidFill>
              </a:rPr>
              <a:t>compartments</a:t>
            </a:r>
            <a:endParaRPr lang="fr-FR" sz="2800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65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83223-16D9-46A4-980E-38F46A1D3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005" y="1553284"/>
            <a:ext cx="7196339" cy="375142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6795"/>
                </a:solidFill>
              </a:rPr>
              <a:t>Understanding the </a:t>
            </a:r>
            <a:r>
              <a:rPr lang="en-US" b="1" dirty="0">
                <a:solidFill>
                  <a:srgbClr val="006795"/>
                </a:solidFill>
              </a:rPr>
              <a:t>evolutionary trajectories </a:t>
            </a:r>
            <a:r>
              <a:rPr lang="en-US" dirty="0">
                <a:solidFill>
                  <a:srgbClr val="006795"/>
                </a:solidFill>
              </a:rPr>
              <a:t>in MpBC</a:t>
            </a:r>
          </a:p>
          <a:p>
            <a:pPr lvl="1"/>
            <a:r>
              <a:rPr lang="en-US" dirty="0">
                <a:solidFill>
                  <a:srgbClr val="006795"/>
                </a:solidFill>
              </a:rPr>
              <a:t>Internal determinants (genetic and epigenetic)</a:t>
            </a:r>
          </a:p>
          <a:p>
            <a:pPr lvl="1"/>
            <a:r>
              <a:rPr lang="fr-FR" dirty="0" err="1">
                <a:solidFill>
                  <a:srgbClr val="006795"/>
                </a:solidFill>
              </a:rPr>
              <a:t>External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en-US" dirty="0">
                <a:solidFill>
                  <a:srgbClr val="006795"/>
                </a:solidFill>
              </a:rPr>
              <a:t>determinants</a:t>
            </a:r>
            <a:r>
              <a:rPr lang="fr-FR" dirty="0">
                <a:solidFill>
                  <a:srgbClr val="006795"/>
                </a:solidFill>
              </a:rPr>
              <a:t> (</a:t>
            </a:r>
            <a:r>
              <a:rPr lang="fr-FR" dirty="0" err="1">
                <a:solidFill>
                  <a:srgbClr val="006795"/>
                </a:solidFill>
              </a:rPr>
              <a:t>tumor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microenvironment</a:t>
            </a:r>
            <a:r>
              <a:rPr lang="fr-FR" dirty="0">
                <a:solidFill>
                  <a:srgbClr val="006795"/>
                </a:solidFill>
              </a:rPr>
              <a:t>)</a:t>
            </a:r>
          </a:p>
          <a:p>
            <a:pPr lvl="1"/>
            <a:endParaRPr lang="fr-FR" dirty="0">
              <a:solidFill>
                <a:srgbClr val="006795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6795"/>
                </a:solidFill>
              </a:rPr>
              <a:t>Identify molecular biomarkers to </a:t>
            </a:r>
            <a:r>
              <a:rPr lang="en-US" b="1" dirty="0">
                <a:solidFill>
                  <a:srgbClr val="006795"/>
                </a:solidFill>
              </a:rPr>
              <a:t>improve diagnostic </a:t>
            </a:r>
            <a:r>
              <a:rPr lang="en-US" dirty="0">
                <a:solidFill>
                  <a:srgbClr val="006795"/>
                </a:solidFill>
              </a:rPr>
              <a:t>precision</a:t>
            </a:r>
            <a:endParaRPr lang="fr-FR" dirty="0">
              <a:solidFill>
                <a:srgbClr val="006795"/>
              </a:solidFill>
            </a:endParaRPr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3D3F6EE5-762D-4D82-8CC3-FA3FA5D0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4294133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Research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82390E-AB93-440A-948E-FDA0850855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62"/>
          <a:stretch/>
        </p:blipFill>
        <p:spPr>
          <a:xfrm>
            <a:off x="7523747" y="801214"/>
            <a:ext cx="4550807" cy="52555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7FE1C2-AB9D-4F6D-9E8C-A7E46EA0FB53}"/>
              </a:ext>
            </a:extLst>
          </p:cNvPr>
          <p:cNvSpPr/>
          <p:nvPr/>
        </p:nvSpPr>
        <p:spPr>
          <a:xfrm>
            <a:off x="7523747" y="5971932"/>
            <a:ext cx="347762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808080"/>
                </a:solidFill>
                <a:latin typeface="Utopia-Regular"/>
              </a:rPr>
              <a:t>Taken from: </a:t>
            </a:r>
            <a:r>
              <a:rPr lang="en-US" sz="1100" i="1" dirty="0" err="1">
                <a:solidFill>
                  <a:srgbClr val="808080"/>
                </a:solidFill>
                <a:latin typeface="Utopia-Regular"/>
              </a:rPr>
              <a:t>Lüönd</a:t>
            </a:r>
            <a:r>
              <a:rPr lang="en-US" sz="1100" i="1" dirty="0">
                <a:solidFill>
                  <a:srgbClr val="808080"/>
                </a:solidFill>
                <a:latin typeface="Utopia-Regular"/>
              </a:rPr>
              <a:t>, F., </a:t>
            </a:r>
            <a:r>
              <a:rPr lang="en-US" sz="1100" i="1" dirty="0" err="1">
                <a:solidFill>
                  <a:srgbClr val="808080"/>
                </a:solidFill>
                <a:latin typeface="Utopia-Regular"/>
              </a:rPr>
              <a:t>Tiede</a:t>
            </a:r>
            <a:r>
              <a:rPr lang="en-US" sz="1100" i="1" dirty="0">
                <a:solidFill>
                  <a:srgbClr val="808080"/>
                </a:solidFill>
                <a:latin typeface="Utopia-Regular"/>
              </a:rPr>
              <a:t>, S. &amp; </a:t>
            </a:r>
            <a:r>
              <a:rPr lang="en-US" sz="1100" i="1" dirty="0" err="1">
                <a:solidFill>
                  <a:srgbClr val="808080"/>
                </a:solidFill>
                <a:latin typeface="Utopia-Regular"/>
              </a:rPr>
              <a:t>Christofori</a:t>
            </a:r>
            <a:r>
              <a:rPr lang="en-US" sz="1100" i="1" dirty="0">
                <a:solidFill>
                  <a:srgbClr val="808080"/>
                </a:solidFill>
                <a:latin typeface="Utopia-Regular"/>
              </a:rPr>
              <a:t>, G. (2021).</a:t>
            </a:r>
            <a:endParaRPr lang="fr-FR" sz="3200" i="1" dirty="0"/>
          </a:p>
        </p:txBody>
      </p:sp>
    </p:spTree>
    <p:extLst>
      <p:ext uri="{BB962C8B-B14F-4D97-AF65-F5344CB8AC3E}">
        <p14:creationId xmlns:p14="http://schemas.microsoft.com/office/powerpoint/2010/main" val="74294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0DEBB90F-31CD-459C-ABB3-45DFAA731B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" t="2182" r="1212" b="2289"/>
          <a:stretch/>
        </p:blipFill>
        <p:spPr>
          <a:xfrm>
            <a:off x="1122944" y="1045367"/>
            <a:ext cx="10339137" cy="4697708"/>
          </a:xfrm>
          <a:prstGeom prst="rect">
            <a:avLst/>
          </a:prstGeom>
        </p:spPr>
      </p:pic>
      <p:sp>
        <p:nvSpPr>
          <p:cNvPr id="12" name="Titre 3">
            <a:extLst>
              <a:ext uri="{FF2B5EF4-FFF2-40B4-BE49-F238E27FC236}">
                <a16:creationId xmlns:a16="http://schemas.microsoft.com/office/drawing/2014/main" id="{98329DCC-7D06-456D-AE5D-5CFB0272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5" y="115748"/>
            <a:ext cx="10101375" cy="633165"/>
          </a:xfrm>
        </p:spPr>
        <p:txBody>
          <a:bodyPr>
            <a:noAutofit/>
          </a:bodyPr>
          <a:lstStyle/>
          <a:p>
            <a:r>
              <a:rPr lang="fr-FR" sz="4000" b="1" u="sng" dirty="0">
                <a:solidFill>
                  <a:srgbClr val="F39224"/>
                </a:solidFill>
              </a:rPr>
              <a:t>Preliminary results:</a:t>
            </a:r>
            <a:r>
              <a:rPr lang="fr-FR" sz="4000" dirty="0">
                <a:solidFill>
                  <a:srgbClr val="F39224"/>
                </a:solidFill>
              </a:rPr>
              <a:t> Expression markers </a:t>
            </a:r>
            <a:r>
              <a:rPr lang="en-GB" sz="4000" dirty="0">
                <a:solidFill>
                  <a:srgbClr val="F39224"/>
                </a:solidFill>
              </a:rPr>
              <a:t>analysis</a:t>
            </a:r>
            <a:endParaRPr lang="fr-FR" sz="4000" dirty="0">
              <a:solidFill>
                <a:srgbClr val="F39224"/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D853168-32F4-4567-B381-F0073EDB6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6" y="5951362"/>
            <a:ext cx="11866007" cy="9066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</a:t>
            </a:r>
            <a:r>
              <a:rPr lang="en-US" b="1" dirty="0">
                <a:solidFill>
                  <a:srgbClr val="006795"/>
                </a:solidFill>
              </a:rPr>
              <a:t> </a:t>
            </a:r>
            <a:r>
              <a:rPr lang="fr-FR" b="1" dirty="0">
                <a:solidFill>
                  <a:srgbClr val="006795"/>
                </a:solidFill>
              </a:rPr>
              <a:t>15 mixed MpBC </a:t>
            </a:r>
            <a:r>
              <a:rPr lang="fr-FR" b="1" dirty="0" err="1">
                <a:solidFill>
                  <a:srgbClr val="006795"/>
                </a:solidFill>
              </a:rPr>
              <a:t>samples</a:t>
            </a:r>
            <a:r>
              <a:rPr lang="fr-FR" b="1" dirty="0">
                <a:solidFill>
                  <a:srgbClr val="006795"/>
                </a:solidFill>
              </a:rPr>
              <a:t> </a:t>
            </a:r>
            <a:r>
              <a:rPr lang="fr-FR" b="1" dirty="0" err="1">
                <a:solidFill>
                  <a:srgbClr val="006795"/>
                </a:solidFill>
              </a:rPr>
              <a:t>analysed</a:t>
            </a:r>
            <a:endParaRPr lang="fr-FR" b="1" dirty="0">
              <a:solidFill>
                <a:srgbClr val="006795"/>
              </a:solidFill>
            </a:endParaRPr>
          </a:p>
          <a:p>
            <a:pPr marL="0" indent="0" algn="ctr">
              <a:buNone/>
            </a:pPr>
            <a:endParaRPr lang="fr-FR" sz="2400" b="1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35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Titre 3">
            <a:extLst>
              <a:ext uri="{FF2B5EF4-FFF2-40B4-BE49-F238E27FC236}">
                <a16:creationId xmlns:a16="http://schemas.microsoft.com/office/drawing/2014/main" id="{98329DCC-7D06-456D-AE5D-5CFB0272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5" y="115748"/>
            <a:ext cx="10101375" cy="633165"/>
          </a:xfrm>
        </p:spPr>
        <p:txBody>
          <a:bodyPr>
            <a:noAutofit/>
          </a:bodyPr>
          <a:lstStyle/>
          <a:p>
            <a:r>
              <a:rPr lang="fr-FR" sz="4000" b="1" u="sng" dirty="0">
                <a:solidFill>
                  <a:srgbClr val="F39224"/>
                </a:solidFill>
              </a:rPr>
              <a:t>Preliminary results:</a:t>
            </a:r>
            <a:r>
              <a:rPr lang="fr-FR" sz="4000" dirty="0">
                <a:solidFill>
                  <a:srgbClr val="F39224"/>
                </a:solidFill>
              </a:rPr>
              <a:t> Expression markers </a:t>
            </a:r>
            <a:r>
              <a:rPr lang="en-GB" sz="4000" dirty="0">
                <a:solidFill>
                  <a:srgbClr val="F39224"/>
                </a:solidFill>
              </a:rPr>
              <a:t>analysis</a:t>
            </a:r>
            <a:endParaRPr lang="fr-FR" sz="4000" dirty="0">
              <a:solidFill>
                <a:srgbClr val="F39224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084948-2AC2-4B91-B691-0AA324776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5968"/>
            <a:ext cx="12192000" cy="3549649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C1A3035F-CBE6-4D55-9AB1-97F30BFB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" y="5372672"/>
            <a:ext cx="11866007" cy="6185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</a:t>
            </a:r>
            <a:r>
              <a:rPr lang="en-US" b="1" dirty="0">
                <a:solidFill>
                  <a:srgbClr val="006795"/>
                </a:solidFill>
              </a:rPr>
              <a:t> Some phenotypic markers identified are specific to clusters</a:t>
            </a:r>
            <a:endParaRPr lang="fr-FR" sz="2400" b="1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05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Titre 3">
            <a:extLst>
              <a:ext uri="{FF2B5EF4-FFF2-40B4-BE49-F238E27FC236}">
                <a16:creationId xmlns:a16="http://schemas.microsoft.com/office/drawing/2014/main" id="{98329DCC-7D06-456D-AE5D-5CFB0272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5" y="115748"/>
            <a:ext cx="10101375" cy="633165"/>
          </a:xfrm>
        </p:spPr>
        <p:txBody>
          <a:bodyPr>
            <a:noAutofit/>
          </a:bodyPr>
          <a:lstStyle/>
          <a:p>
            <a:r>
              <a:rPr lang="fr-FR" sz="4000" b="1" u="sng" dirty="0">
                <a:solidFill>
                  <a:srgbClr val="F39224"/>
                </a:solidFill>
              </a:rPr>
              <a:t>Preliminary results:</a:t>
            </a:r>
            <a:r>
              <a:rPr lang="fr-FR" sz="4000" dirty="0">
                <a:solidFill>
                  <a:srgbClr val="F39224"/>
                </a:solidFill>
              </a:rPr>
              <a:t> Expression markers </a:t>
            </a:r>
            <a:r>
              <a:rPr lang="en-GB" sz="4000" dirty="0">
                <a:solidFill>
                  <a:srgbClr val="F39224"/>
                </a:solidFill>
              </a:rPr>
              <a:t>analysis</a:t>
            </a:r>
            <a:endParaRPr lang="fr-FR" sz="4000" dirty="0">
              <a:solidFill>
                <a:srgbClr val="F39224"/>
              </a:solidFill>
            </a:endParaRP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C1A3035F-CBE6-4D55-9AB1-97F30BFB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" y="5372672"/>
            <a:ext cx="11866007" cy="10529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</a:t>
            </a:r>
            <a:r>
              <a:rPr lang="en-US" b="1" dirty="0">
                <a:solidFill>
                  <a:srgbClr val="006795"/>
                </a:solidFill>
              </a:rPr>
              <a:t> Few phenotypic markers aren’t specific enough (Visium limitations)</a:t>
            </a:r>
          </a:p>
          <a:p>
            <a:pPr marL="0" indent="0" algn="ctr">
              <a:buNone/>
            </a:pPr>
            <a:r>
              <a:rPr lang="fr-FR" b="1" dirty="0">
                <a:solidFill>
                  <a:srgbClr val="006795"/>
                </a:solidFill>
              </a:rPr>
              <a:t>⇒ </a:t>
            </a:r>
            <a:r>
              <a:rPr lang="en-US" dirty="0">
                <a:solidFill>
                  <a:srgbClr val="006795"/>
                </a:solidFill>
              </a:rPr>
              <a:t>Different </a:t>
            </a:r>
            <a:r>
              <a:rPr lang="en-US" b="1" dirty="0">
                <a:solidFill>
                  <a:srgbClr val="006795"/>
                </a:solidFill>
              </a:rPr>
              <a:t>spot purity </a:t>
            </a:r>
            <a:r>
              <a:rPr lang="en-US" dirty="0">
                <a:solidFill>
                  <a:srgbClr val="006795"/>
                </a:solidFill>
              </a:rPr>
              <a:t>depending on the </a:t>
            </a:r>
            <a:r>
              <a:rPr lang="en-US" b="1" dirty="0">
                <a:solidFill>
                  <a:srgbClr val="006795"/>
                </a:solidFill>
              </a:rPr>
              <a:t>subtypes</a:t>
            </a:r>
            <a:endParaRPr lang="fr-FR" sz="2400" b="1" dirty="0">
              <a:solidFill>
                <a:srgbClr val="006795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8C5533-766F-4BEB-B0B2-B40A5D97A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967"/>
            <a:ext cx="12192000" cy="354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8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CC3B007B-6190-449A-B33A-B662EBFCCB17}"/>
              </a:ext>
            </a:extLst>
          </p:cNvPr>
          <p:cNvSpPr txBox="1"/>
          <p:nvPr/>
        </p:nvSpPr>
        <p:spPr>
          <a:xfrm>
            <a:off x="481263" y="1953632"/>
            <a:ext cx="51196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6795"/>
                </a:solidFill>
              </a:rPr>
              <a:t>Visium spots deconvolution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795"/>
                </a:solidFill>
              </a:rPr>
              <a:t>Misattribution </a:t>
            </a:r>
            <a:r>
              <a:rPr lang="en-US" sz="2400" dirty="0">
                <a:solidFill>
                  <a:srgbClr val="006795"/>
                </a:solidFill>
              </a:rPr>
              <a:t>of the </a:t>
            </a:r>
            <a:r>
              <a:rPr lang="en-US" sz="2400" b="1" dirty="0">
                <a:solidFill>
                  <a:srgbClr val="006795"/>
                </a:solidFill>
              </a:rPr>
              <a:t>spindle-cell </a:t>
            </a:r>
            <a:r>
              <a:rPr lang="en-US" sz="2400" dirty="0">
                <a:solidFill>
                  <a:srgbClr val="006795"/>
                </a:solidFill>
              </a:rPr>
              <a:t>subtype transcriptomic </a:t>
            </a:r>
            <a:r>
              <a:rPr lang="en-US" sz="2400" b="1" dirty="0">
                <a:solidFill>
                  <a:srgbClr val="006795"/>
                </a:solidFill>
              </a:rPr>
              <a:t>signature </a:t>
            </a:r>
            <a:r>
              <a:rPr lang="en-US" sz="2400" dirty="0">
                <a:solidFill>
                  <a:srgbClr val="006795"/>
                </a:solidFill>
              </a:rPr>
              <a:t>to the presence of </a:t>
            </a:r>
            <a:r>
              <a:rPr lang="en-US" sz="2400" b="1" dirty="0">
                <a:solidFill>
                  <a:srgbClr val="006795"/>
                </a:solidFill>
              </a:rPr>
              <a:t>fibroblasts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23518D6-00E0-45E7-B5ED-4A038978397A}"/>
              </a:ext>
            </a:extLst>
          </p:cNvPr>
          <p:cNvGrpSpPr/>
          <p:nvPr/>
        </p:nvGrpSpPr>
        <p:grpSpPr>
          <a:xfrm>
            <a:off x="5690532" y="701128"/>
            <a:ext cx="6384022" cy="5428053"/>
            <a:chOff x="5892355" y="1268708"/>
            <a:chExt cx="5886559" cy="4880422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A1522D2E-E40D-4C00-AA0A-D959571CE235}"/>
                </a:ext>
              </a:extLst>
            </p:cNvPr>
            <p:cNvGrpSpPr/>
            <p:nvPr/>
          </p:nvGrpSpPr>
          <p:grpSpPr>
            <a:xfrm>
              <a:off x="5892355" y="1268708"/>
              <a:ext cx="5886559" cy="4880422"/>
              <a:chOff x="6107227" y="1243541"/>
              <a:chExt cx="5886559" cy="4880422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C0B281A4-3A0F-4426-AC51-3DFABF21E00E}"/>
                  </a:ext>
                </a:extLst>
              </p:cNvPr>
              <p:cNvGrpSpPr/>
              <p:nvPr/>
            </p:nvGrpSpPr>
            <p:grpSpPr>
              <a:xfrm>
                <a:off x="6107227" y="1243541"/>
                <a:ext cx="5886559" cy="4880422"/>
                <a:chOff x="6107227" y="1243541"/>
                <a:chExt cx="5886559" cy="4880422"/>
              </a:xfrm>
            </p:grpSpPr>
            <p:pic>
              <p:nvPicPr>
                <p:cNvPr id="16" name="Image 15">
                  <a:extLst>
                    <a:ext uri="{FF2B5EF4-FFF2-40B4-BE49-F238E27FC236}">
                      <a16:creationId xmlns:a16="http://schemas.microsoft.com/office/drawing/2014/main" id="{12CD6B10-FEFA-4BA0-85CC-5D117303D8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07227" y="1243541"/>
                  <a:ext cx="5886559" cy="4880422"/>
                </a:xfrm>
                <a:prstGeom prst="rect">
                  <a:avLst/>
                </a:prstGeom>
              </p:spPr>
            </p:pic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6A8EF5F-E1F6-4DAA-97C2-1388F73E212B}"/>
                    </a:ext>
                  </a:extLst>
                </p:cNvPr>
                <p:cNvSpPr/>
                <p:nvPr/>
              </p:nvSpPr>
              <p:spPr>
                <a:xfrm>
                  <a:off x="11393954" y="5629013"/>
                  <a:ext cx="571706" cy="494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BF25667-F41E-4D04-9549-7E425152C1C5}"/>
                  </a:ext>
                </a:extLst>
              </p:cNvPr>
              <p:cNvSpPr/>
              <p:nvPr/>
            </p:nvSpPr>
            <p:spPr>
              <a:xfrm>
                <a:off x="6602136" y="5545123"/>
                <a:ext cx="3212984" cy="3914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31F87DC-01CF-4957-9C6F-339461E8D248}"/>
                  </a:ext>
                </a:extLst>
              </p:cNvPr>
              <p:cNvSpPr/>
              <p:nvPr/>
            </p:nvSpPr>
            <p:spPr>
              <a:xfrm>
                <a:off x="6946193" y="5493484"/>
                <a:ext cx="688127" cy="494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Epithelial</a:t>
                </a:r>
                <a:r>
                  <a:rPr lang="fr-F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tumor</a:t>
                </a:r>
                <a:r>
                  <a:rPr lang="fr-F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cells</a:t>
                </a:r>
                <a:endParaRPr lang="fr-F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827021-9070-4FB4-927D-6B0B30098A33}"/>
                  </a:ext>
                </a:extLst>
              </p:cNvPr>
              <p:cNvSpPr/>
              <p:nvPr/>
            </p:nvSpPr>
            <p:spPr>
              <a:xfrm>
                <a:off x="7659933" y="5542134"/>
                <a:ext cx="738231" cy="3495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Spindle-cell</a:t>
                </a:r>
                <a:endParaRPr lang="fr-FR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F4AC527-8A1F-4ED6-9029-CC6CBFCC80BE}"/>
                  </a:ext>
                </a:extLst>
              </p:cNvPr>
              <p:cNvSpPr/>
              <p:nvPr/>
            </p:nvSpPr>
            <p:spPr>
              <a:xfrm>
                <a:off x="8398165" y="5495136"/>
                <a:ext cx="851830" cy="409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Mesenchymal</a:t>
                </a:r>
                <a:endParaRPr lang="fr-F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algn="ctr"/>
                <a:r>
                  <a:rPr lang="fr-F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normal </a:t>
                </a:r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cells</a:t>
                </a:r>
                <a:endParaRPr lang="fr-F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B824183-3157-469B-A4A2-397D028FCC3E}"/>
                  </a:ext>
                </a:extLst>
              </p:cNvPr>
              <p:cNvSpPr/>
              <p:nvPr/>
            </p:nvSpPr>
            <p:spPr>
              <a:xfrm>
                <a:off x="9169481" y="5495136"/>
                <a:ext cx="707525" cy="409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Squamous</a:t>
                </a:r>
              </a:p>
              <a:p>
                <a:pPr algn="ctr"/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tumor</a:t>
                </a:r>
                <a:endParaRPr lang="fr-F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algn="ctr"/>
                <a:r>
                  <a:rPr lang="fr-FR" sz="1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cells</a:t>
                </a:r>
                <a:endParaRPr lang="fr-F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CC5B1C0-DC59-45D6-9224-52512DDDF9B3}"/>
                </a:ext>
              </a:extLst>
            </p:cNvPr>
            <p:cNvSpPr/>
            <p:nvPr/>
          </p:nvSpPr>
          <p:spPr>
            <a:xfrm>
              <a:off x="6359138" y="5961776"/>
              <a:ext cx="3212984" cy="127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Titre 3">
            <a:extLst>
              <a:ext uri="{FF2B5EF4-FFF2-40B4-BE49-F238E27FC236}">
                <a16:creationId xmlns:a16="http://schemas.microsoft.com/office/drawing/2014/main" id="{095F9F9B-51F3-4B04-98AC-821D4244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10798204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Preliminary results:</a:t>
            </a:r>
            <a:r>
              <a:rPr lang="fr-FR" dirty="0">
                <a:solidFill>
                  <a:srgbClr val="F39224"/>
                </a:solidFill>
              </a:rPr>
              <a:t> Spot deconvolution &amp; TME</a:t>
            </a:r>
            <a:endParaRPr lang="fr-FR" b="1" u="sng" dirty="0">
              <a:solidFill>
                <a:srgbClr val="F3922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D14E1F-B4D7-4AB6-954F-39C1CF149A8B}"/>
              </a:ext>
            </a:extLst>
          </p:cNvPr>
          <p:cNvSpPr/>
          <p:nvPr/>
        </p:nvSpPr>
        <p:spPr>
          <a:xfrm>
            <a:off x="9788590" y="5698294"/>
            <a:ext cx="23756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i="1" dirty="0" err="1">
                <a:solidFill>
                  <a:srgbClr val="808080"/>
                </a:solidFill>
                <a:latin typeface="Utopia-Regular"/>
              </a:rPr>
              <a:t>Adapted</a:t>
            </a:r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 </a:t>
            </a:r>
            <a:r>
              <a:rPr lang="fr-FR" sz="1100" i="1" dirty="0" err="1">
                <a:solidFill>
                  <a:srgbClr val="808080"/>
                </a:solidFill>
                <a:latin typeface="Utopia-Regular"/>
              </a:rPr>
              <a:t>from</a:t>
            </a:r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:</a:t>
            </a:r>
          </a:p>
          <a:p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Ines </a:t>
            </a:r>
            <a:r>
              <a:rPr lang="fr-FR" sz="1100" i="1" dirty="0" err="1">
                <a:solidFill>
                  <a:srgbClr val="808080"/>
                </a:solidFill>
                <a:latin typeface="Utopia-Regular"/>
              </a:rPr>
              <a:t>Kardous</a:t>
            </a:r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, M2 </a:t>
            </a:r>
            <a:r>
              <a:rPr lang="fr-FR" sz="1100" i="1" dirty="0" err="1">
                <a:solidFill>
                  <a:srgbClr val="808080"/>
                </a:solidFill>
                <a:latin typeface="Utopia-Regular"/>
              </a:rPr>
              <a:t>Internship</a:t>
            </a:r>
            <a:r>
              <a:rPr lang="fr-FR" sz="1100" i="1" dirty="0">
                <a:solidFill>
                  <a:srgbClr val="808080"/>
                </a:solidFill>
                <a:latin typeface="Utopia-Regular"/>
              </a:rPr>
              <a:t> (2024).</a:t>
            </a:r>
            <a:endParaRPr lang="fr-FR" sz="32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C23DD-31E1-413E-ACCA-DF97EF42B612}"/>
              </a:ext>
            </a:extLst>
          </p:cNvPr>
          <p:cNvSpPr/>
          <p:nvPr/>
        </p:nvSpPr>
        <p:spPr>
          <a:xfrm>
            <a:off x="344173" y="4677319"/>
            <a:ext cx="51196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006795"/>
                </a:solidFill>
              </a:rPr>
              <a:t>⇒ </a:t>
            </a:r>
            <a:r>
              <a:rPr lang="en-US" sz="2800" b="1" dirty="0">
                <a:solidFill>
                  <a:srgbClr val="006795"/>
                </a:solidFill>
              </a:rPr>
              <a:t>Necessity </a:t>
            </a:r>
            <a:r>
              <a:rPr lang="en-US" sz="2800" dirty="0">
                <a:solidFill>
                  <a:srgbClr val="006795"/>
                </a:solidFill>
              </a:rPr>
              <a:t>to build a </a:t>
            </a:r>
            <a:r>
              <a:rPr lang="en-US" sz="2800" b="1" dirty="0">
                <a:solidFill>
                  <a:srgbClr val="006795"/>
                </a:solidFill>
              </a:rPr>
              <a:t>transcriptomic atlas specific to MpBC</a:t>
            </a:r>
            <a:endParaRPr lang="fr-FR" sz="2000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566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62F08350-E52C-46B0-8E0A-745C8F635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631" y="748914"/>
            <a:ext cx="11710738" cy="5297641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124A070-4896-4B73-8F75-2C454615C628}"/>
              </a:ext>
            </a:extLst>
          </p:cNvPr>
          <p:cNvSpPr txBox="1"/>
          <p:nvPr/>
        </p:nvSpPr>
        <p:spPr>
          <a:xfrm>
            <a:off x="240631" y="6046555"/>
            <a:ext cx="11152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fr-FR" sz="2800" b="1" dirty="0">
                <a:solidFill>
                  <a:srgbClr val="006795"/>
                </a:solidFill>
              </a:rPr>
              <a:t>⇒ </a:t>
            </a:r>
            <a:r>
              <a:rPr lang="en-US" sz="2800" b="1" dirty="0">
                <a:solidFill>
                  <a:srgbClr val="006795"/>
                </a:solidFill>
              </a:rPr>
              <a:t>Limited genomic divergence between matched tumor compartments</a:t>
            </a:r>
            <a:endParaRPr lang="fr-FR" sz="2800" b="1" dirty="0">
              <a:solidFill>
                <a:srgbClr val="006795"/>
              </a:solidFill>
            </a:endParaRPr>
          </a:p>
        </p:txBody>
      </p:sp>
      <p:sp>
        <p:nvSpPr>
          <p:cNvPr id="12" name="Titre 3">
            <a:extLst>
              <a:ext uri="{FF2B5EF4-FFF2-40B4-BE49-F238E27FC236}">
                <a16:creationId xmlns:a16="http://schemas.microsoft.com/office/drawing/2014/main" id="{FFD0B479-F441-435D-A158-5784A50F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10207654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Preliminary results:</a:t>
            </a:r>
            <a:r>
              <a:rPr lang="fr-FR" dirty="0">
                <a:solidFill>
                  <a:srgbClr val="F39224"/>
                </a:solidFill>
              </a:rPr>
              <a:t> Genetic determinants (CNA)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AA090F6-E267-4160-B5F1-CE1DB4B7CC8C}"/>
              </a:ext>
            </a:extLst>
          </p:cNvPr>
          <p:cNvSpPr txBox="1"/>
          <p:nvPr/>
        </p:nvSpPr>
        <p:spPr>
          <a:xfrm>
            <a:off x="9783924" y="6550223"/>
            <a:ext cx="2408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CNA: Copy </a:t>
            </a:r>
            <a:r>
              <a:rPr lang="fr-FR" sz="1400" dirty="0" err="1">
                <a:solidFill>
                  <a:schemeClr val="bg2">
                    <a:lumMod val="50000"/>
                  </a:schemeClr>
                </a:solidFill>
              </a:rPr>
              <a:t>Number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Alteration</a:t>
            </a:r>
          </a:p>
        </p:txBody>
      </p:sp>
    </p:spTree>
    <p:extLst>
      <p:ext uri="{BB962C8B-B14F-4D97-AF65-F5344CB8AC3E}">
        <p14:creationId xmlns:p14="http://schemas.microsoft.com/office/powerpoint/2010/main" val="278952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83223-16D9-46A4-980E-38F46A1D3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512"/>
            <a:ext cx="10515600" cy="37369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6795"/>
                </a:solidFill>
              </a:rPr>
              <a:t>Development of a single-cell and spatially resolved transcriptomic atlas dedicated to metaplastic breast carcinomas (MpBC)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006795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6795"/>
                </a:solidFill>
              </a:rPr>
              <a:t>Characterization of genetic and non-genetic determinants driving transdifferentiation in MpBC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006795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6795"/>
                </a:solidFill>
              </a:rPr>
              <a:t>Identification of subtype-specific expression markers and signaling pathways</a:t>
            </a:r>
            <a:endParaRPr lang="fr-FR" dirty="0">
              <a:solidFill>
                <a:srgbClr val="006795"/>
              </a:solidFill>
            </a:endParaRPr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C2D621BD-607E-4FC1-B807-55616889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405188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Research axis</a:t>
            </a:r>
          </a:p>
        </p:txBody>
      </p:sp>
    </p:spTree>
    <p:extLst>
      <p:ext uri="{BB962C8B-B14F-4D97-AF65-F5344CB8AC3E}">
        <p14:creationId xmlns:p14="http://schemas.microsoft.com/office/powerpoint/2010/main" val="329678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dirty="0">
                <a:solidFill>
                  <a:srgbClr val="F39224"/>
                </a:solidFill>
              </a:rPr>
              <a:t>AXIS 1</a:t>
            </a:r>
            <a:r>
              <a:rPr lang="fr-FR" b="1" dirty="0">
                <a:solidFill>
                  <a:srgbClr val="F39224"/>
                </a:solidFill>
              </a:rPr>
              <a:t>: </a:t>
            </a:r>
            <a:br>
              <a:rPr lang="fr-FR" b="1" dirty="0"/>
            </a:br>
            <a:r>
              <a:rPr lang="en-US" sz="4900" b="1" dirty="0">
                <a:solidFill>
                  <a:srgbClr val="006795"/>
                </a:solidFill>
              </a:rPr>
              <a:t>Development of a single-cell and spatially resolved transcriptomic atlas dedicated to metaplastic breast carcinomas</a:t>
            </a:r>
          </a:p>
        </p:txBody>
      </p:sp>
    </p:spTree>
    <p:extLst>
      <p:ext uri="{BB962C8B-B14F-4D97-AF65-F5344CB8AC3E}">
        <p14:creationId xmlns:p14="http://schemas.microsoft.com/office/powerpoint/2010/main" val="146928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DAABE6F8-F024-44C2-9725-B8FBD941482E}"/>
              </a:ext>
            </a:extLst>
          </p:cNvPr>
          <p:cNvSpPr txBox="1"/>
          <p:nvPr/>
        </p:nvSpPr>
        <p:spPr>
          <a:xfrm>
            <a:off x="608570" y="1259175"/>
            <a:ext cx="1097486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u="sng" dirty="0">
                <a:solidFill>
                  <a:srgbClr val="006795"/>
                </a:solidFill>
              </a:rPr>
              <a:t>Objectives: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6795"/>
                </a:solidFill>
              </a:rPr>
              <a:t>Create </a:t>
            </a:r>
            <a:r>
              <a:rPr lang="en-US" sz="2400" dirty="0">
                <a:solidFill>
                  <a:srgbClr val="006795"/>
                </a:solidFill>
              </a:rPr>
              <a:t>a </a:t>
            </a:r>
            <a:r>
              <a:rPr lang="en-US" sz="2400" u="sng" dirty="0">
                <a:solidFill>
                  <a:srgbClr val="006795"/>
                </a:solidFill>
              </a:rPr>
              <a:t>precise</a:t>
            </a:r>
            <a:r>
              <a:rPr lang="en-US" sz="2400" dirty="0">
                <a:solidFill>
                  <a:srgbClr val="006795"/>
                </a:solidFill>
              </a:rPr>
              <a:t> and </a:t>
            </a:r>
            <a:r>
              <a:rPr lang="en-US" sz="2400" u="sng" dirty="0">
                <a:solidFill>
                  <a:srgbClr val="006795"/>
                </a:solidFill>
              </a:rPr>
              <a:t>appropriate</a:t>
            </a:r>
            <a:r>
              <a:rPr lang="en-US" sz="2400" dirty="0">
                <a:solidFill>
                  <a:srgbClr val="006795"/>
                </a:solidFill>
              </a:rPr>
              <a:t> reference dataset for decoding tumor cell heterogeneity in </a:t>
            </a:r>
            <a:r>
              <a:rPr lang="en-US" sz="2400" u="sng" dirty="0">
                <a:solidFill>
                  <a:srgbClr val="006795"/>
                </a:solidFill>
              </a:rPr>
              <a:t>MpBC</a:t>
            </a:r>
            <a:endParaRPr lang="fr-FR" sz="2400" u="sng" dirty="0">
              <a:solidFill>
                <a:srgbClr val="00679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Improve deconvolution of Visium data using accurate single-nucleus profiles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Enable precise cell-type annotation despite tumor heterogeneity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0067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u="sng" dirty="0">
                <a:solidFill>
                  <a:srgbClr val="006795"/>
                </a:solidFill>
              </a:rPr>
              <a:t>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Select 20 MpBC samples (5 per transdifferentiation type)</a:t>
            </a:r>
            <a:endParaRPr lang="fr-FR" sz="2400" b="1" u="sng" dirty="0">
              <a:solidFill>
                <a:srgbClr val="00679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Apply </a:t>
            </a:r>
            <a:r>
              <a:rPr lang="en-US" sz="2400" dirty="0" err="1">
                <a:solidFill>
                  <a:srgbClr val="006795"/>
                </a:solidFill>
              </a:rPr>
              <a:t>snPATHO</a:t>
            </a:r>
            <a:r>
              <a:rPr lang="en-US" sz="2400" dirty="0">
                <a:solidFill>
                  <a:srgbClr val="006795"/>
                </a:solidFill>
              </a:rPr>
              <a:t>-seq for single-nucleus RNA sequencing on FFPE tissue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Detect both gene expression and CNAs from nuclei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795"/>
                </a:solidFill>
              </a:rPr>
              <a:t>Match single-cell markers with annotated spatial clusters in Visium data</a:t>
            </a:r>
            <a:endParaRPr lang="fr-FR" sz="2400" dirty="0">
              <a:solidFill>
                <a:srgbClr val="006795"/>
              </a:solidFill>
            </a:endParaRP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6E0FB67B-27BF-4E84-B3EA-97A4801D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Axis 1</a:t>
            </a:r>
          </a:p>
        </p:txBody>
      </p:sp>
    </p:spTree>
    <p:extLst>
      <p:ext uri="{BB962C8B-B14F-4D97-AF65-F5344CB8AC3E}">
        <p14:creationId xmlns:p14="http://schemas.microsoft.com/office/powerpoint/2010/main" val="4168907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DAABE6F8-F024-44C2-9725-B8FBD941482E}"/>
              </a:ext>
            </a:extLst>
          </p:cNvPr>
          <p:cNvSpPr txBox="1"/>
          <p:nvPr/>
        </p:nvSpPr>
        <p:spPr>
          <a:xfrm>
            <a:off x="481263" y="987886"/>
            <a:ext cx="320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6795"/>
                </a:solidFill>
              </a:rPr>
              <a:t>Spots </a:t>
            </a:r>
            <a:r>
              <a:rPr lang="fr-FR" sz="2400" b="1" dirty="0" err="1">
                <a:solidFill>
                  <a:srgbClr val="006795"/>
                </a:solidFill>
              </a:rPr>
              <a:t>deconvolution</a:t>
            </a:r>
            <a:endParaRPr lang="fr-FR" sz="2400" b="1" dirty="0">
              <a:solidFill>
                <a:srgbClr val="006795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4EF0B8-8830-44AC-BD19-4F439FA54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21" y="925742"/>
            <a:ext cx="5673167" cy="2269267"/>
          </a:xfrm>
          <a:prstGeom prst="rect">
            <a:avLst/>
          </a:prstGeom>
        </p:spPr>
      </p:pic>
      <p:sp>
        <p:nvSpPr>
          <p:cNvPr id="12" name="Titre 3">
            <a:extLst>
              <a:ext uri="{FF2B5EF4-FFF2-40B4-BE49-F238E27FC236}">
                <a16:creationId xmlns:a16="http://schemas.microsoft.com/office/drawing/2014/main" id="{3D0CF3C7-9CBB-4C55-8073-757885B1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Axis 1</a:t>
            </a:r>
          </a:p>
        </p:txBody>
      </p:sp>
    </p:spTree>
    <p:extLst>
      <p:ext uri="{BB962C8B-B14F-4D97-AF65-F5344CB8AC3E}">
        <p14:creationId xmlns:p14="http://schemas.microsoft.com/office/powerpoint/2010/main" val="535361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dirty="0">
                <a:solidFill>
                  <a:srgbClr val="F39224"/>
                </a:solidFill>
              </a:rPr>
              <a:t>AXIS 2</a:t>
            </a:r>
            <a:r>
              <a:rPr lang="fr-FR" b="1" dirty="0">
                <a:solidFill>
                  <a:srgbClr val="F39224"/>
                </a:solidFill>
              </a:rPr>
              <a:t>: </a:t>
            </a:r>
            <a:br>
              <a:rPr lang="fr-FR" b="1" dirty="0"/>
            </a:br>
            <a:r>
              <a:rPr lang="en-US" sz="5400" b="1" dirty="0">
                <a:solidFill>
                  <a:srgbClr val="006795"/>
                </a:solidFill>
              </a:rPr>
              <a:t>Characterization of genetic and non-genetic determinants driving transdifferentiation in MpBC</a:t>
            </a:r>
          </a:p>
        </p:txBody>
      </p:sp>
    </p:spTree>
    <p:extLst>
      <p:ext uri="{BB962C8B-B14F-4D97-AF65-F5344CB8AC3E}">
        <p14:creationId xmlns:p14="http://schemas.microsoft.com/office/powerpoint/2010/main" val="427043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80EBF0E1-FDFA-42E0-95F6-17EC2CEB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490" y="1526796"/>
            <a:ext cx="6769261" cy="412579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F478076-633B-4D3B-9215-049A216BC79D}"/>
              </a:ext>
            </a:extLst>
          </p:cNvPr>
          <p:cNvSpPr txBox="1"/>
          <p:nvPr/>
        </p:nvSpPr>
        <p:spPr>
          <a:xfrm>
            <a:off x="481263" y="1128279"/>
            <a:ext cx="46929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u="sng" dirty="0">
                <a:solidFill>
                  <a:srgbClr val="006795"/>
                </a:solidFill>
              </a:rPr>
              <a:t>Objectifs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6795"/>
                </a:solidFill>
              </a:rPr>
              <a:t>Comprendre les </a:t>
            </a:r>
            <a:r>
              <a:rPr lang="fr-FR" sz="2000" b="1" dirty="0">
                <a:solidFill>
                  <a:srgbClr val="006795"/>
                </a:solidFill>
              </a:rPr>
              <a:t>trajectoires évolutives </a:t>
            </a:r>
            <a:r>
              <a:rPr lang="fr-FR" sz="2000" dirty="0">
                <a:solidFill>
                  <a:srgbClr val="006795"/>
                </a:solidFill>
              </a:rPr>
              <a:t>des cellules tumorales au sein des </a:t>
            </a:r>
            <a:r>
              <a:rPr lang="fr-FR" sz="2000" b="1" dirty="0">
                <a:solidFill>
                  <a:srgbClr val="006795"/>
                </a:solidFill>
              </a:rPr>
              <a:t>MpBC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Mutations génomiques drivers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Composition du TME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2000" b="1" dirty="0">
              <a:solidFill>
                <a:srgbClr val="0067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u="sng" dirty="0">
                <a:solidFill>
                  <a:srgbClr val="006795"/>
                </a:solidFill>
              </a:rPr>
              <a:t>Méthode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Microdissection de chaque compartiment tumoraux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WES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Méthylome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Identification de paires ligand-récepteurs</a:t>
            </a:r>
            <a:endParaRPr lang="fr-FR" sz="2000" dirty="0">
              <a:solidFill>
                <a:srgbClr val="006795"/>
              </a:solidFill>
            </a:endParaRP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F774944A-4C98-4F9A-8DF7-E58775BF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Axis 2</a:t>
            </a:r>
          </a:p>
        </p:txBody>
      </p:sp>
    </p:spTree>
    <p:extLst>
      <p:ext uri="{BB962C8B-B14F-4D97-AF65-F5344CB8AC3E}">
        <p14:creationId xmlns:p14="http://schemas.microsoft.com/office/powerpoint/2010/main" val="3579184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5CADD-8C52-449B-A5E0-C0C79A2F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Bordure…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23943-6992-4565-A0F6-59386489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94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dirty="0">
                <a:solidFill>
                  <a:srgbClr val="F39224"/>
                </a:solidFill>
              </a:rPr>
              <a:t>AXIS 3</a:t>
            </a:r>
            <a:r>
              <a:rPr lang="fr-FR" b="1" dirty="0">
                <a:solidFill>
                  <a:srgbClr val="F39224"/>
                </a:solidFill>
              </a:rPr>
              <a:t>: </a:t>
            </a:r>
            <a:br>
              <a:rPr lang="fr-FR" b="1" dirty="0">
                <a:solidFill>
                  <a:srgbClr val="0070C0"/>
                </a:solidFill>
              </a:rPr>
            </a:br>
            <a:r>
              <a:rPr lang="en-US" sz="5400" b="1" dirty="0">
                <a:solidFill>
                  <a:srgbClr val="006795"/>
                </a:solidFill>
              </a:rPr>
              <a:t>Identification of subtype-specific expression markers and signaling pathways</a:t>
            </a:r>
            <a:endParaRPr lang="fr-FR" sz="5400" dirty="0">
              <a:solidFill>
                <a:srgbClr val="0067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124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18B64-20BC-4DF7-834A-EE632953A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61" y="2862276"/>
            <a:ext cx="11378477" cy="297702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C3B007B-6190-449A-B33A-B662EBFCCB17}"/>
              </a:ext>
            </a:extLst>
          </p:cNvPr>
          <p:cNvSpPr txBox="1"/>
          <p:nvPr/>
        </p:nvSpPr>
        <p:spPr>
          <a:xfrm>
            <a:off x="593557" y="1860884"/>
            <a:ext cx="11191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6795"/>
                </a:solidFill>
              </a:rPr>
              <a:t>Identification de </a:t>
            </a:r>
            <a:r>
              <a:rPr lang="fr-FR" b="1" dirty="0">
                <a:solidFill>
                  <a:srgbClr val="006795"/>
                </a:solidFill>
              </a:rPr>
              <a:t>marqueurs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b="1" dirty="0">
                <a:solidFill>
                  <a:srgbClr val="006795"/>
                </a:solidFill>
              </a:rPr>
              <a:t>spécifiques</a:t>
            </a:r>
            <a:r>
              <a:rPr lang="fr-FR" dirty="0">
                <a:solidFill>
                  <a:srgbClr val="006795"/>
                </a:solidFill>
              </a:rPr>
              <a:t> à certains sous-types mais </a:t>
            </a:r>
            <a:r>
              <a:rPr lang="fr-FR" b="1" dirty="0">
                <a:solidFill>
                  <a:srgbClr val="006795"/>
                </a:solidFill>
              </a:rPr>
              <a:t>nécessité</a:t>
            </a:r>
            <a:r>
              <a:rPr lang="fr-FR" dirty="0">
                <a:solidFill>
                  <a:srgbClr val="006795"/>
                </a:solidFill>
              </a:rPr>
              <a:t> d’avoir une </a:t>
            </a:r>
            <a:r>
              <a:rPr lang="fr-FR" b="1" dirty="0">
                <a:solidFill>
                  <a:srgbClr val="006795"/>
                </a:solidFill>
              </a:rPr>
              <a:t>plus grande résolution</a:t>
            </a:r>
            <a:r>
              <a:rPr lang="fr-FR" dirty="0">
                <a:solidFill>
                  <a:srgbClr val="006795"/>
                </a:solidFill>
              </a:rPr>
              <a:t> (single cell) 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9FCE36DB-CAE0-41EB-9D23-E604A311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Axis 3</a:t>
            </a:r>
          </a:p>
        </p:txBody>
      </p:sp>
    </p:spTree>
    <p:extLst>
      <p:ext uri="{BB962C8B-B14F-4D97-AF65-F5344CB8AC3E}">
        <p14:creationId xmlns:p14="http://schemas.microsoft.com/office/powerpoint/2010/main" val="2727707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9D87E37-210F-4EB2-8184-FCA2CCC366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8AE9B-815D-4A4C-8BDA-6E76243742C6}"/>
                </a:ext>
              </a:extLst>
            </p:cNvPr>
            <p:cNvSpPr/>
            <p:nvPr/>
          </p:nvSpPr>
          <p:spPr>
            <a:xfrm>
              <a:off x="0" y="6624747"/>
              <a:ext cx="481263" cy="233253"/>
            </a:xfrm>
            <a:prstGeom prst="rect">
              <a:avLst/>
            </a:prstGeom>
            <a:solidFill>
              <a:srgbClr val="00679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1B67BF-2349-4198-B929-617ADA4899A7}"/>
                </a:ext>
              </a:extLst>
            </p:cNvPr>
            <p:cNvSpPr/>
            <p:nvPr/>
          </p:nvSpPr>
          <p:spPr>
            <a:xfrm>
              <a:off x="11365828" y="0"/>
              <a:ext cx="826172" cy="432331"/>
            </a:xfrm>
            <a:prstGeom prst="rect">
              <a:avLst/>
            </a:prstGeom>
            <a:solidFill>
              <a:srgbClr val="F392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2572F097-9250-4FB4-A6D9-F1AB50D2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430" y="1027906"/>
            <a:ext cx="5652925" cy="510758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278855-0945-46F7-ACC3-E8B998CF611B}"/>
              </a:ext>
            </a:extLst>
          </p:cNvPr>
          <p:cNvSpPr txBox="1"/>
          <p:nvPr/>
        </p:nvSpPr>
        <p:spPr>
          <a:xfrm>
            <a:off x="593556" y="1027906"/>
            <a:ext cx="537101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u="sng" dirty="0">
                <a:solidFill>
                  <a:srgbClr val="006795"/>
                </a:solidFill>
              </a:rPr>
              <a:t>Objectifs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6795"/>
                </a:solidFill>
              </a:rPr>
              <a:t>Pour chaque sous-type des MpBC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6795"/>
                </a:solidFill>
              </a:rPr>
              <a:t>Identification de </a:t>
            </a:r>
            <a:r>
              <a:rPr lang="fr-FR" sz="2000" b="1" dirty="0">
                <a:solidFill>
                  <a:srgbClr val="006795"/>
                </a:solidFill>
              </a:rPr>
              <a:t>marqueurs d’expression</a:t>
            </a:r>
            <a:r>
              <a:rPr lang="fr-FR" sz="2000" dirty="0">
                <a:solidFill>
                  <a:srgbClr val="006795"/>
                </a:solidFill>
              </a:rPr>
              <a:t> beaucoup </a:t>
            </a:r>
            <a:r>
              <a:rPr lang="fr-FR" sz="2000" b="1" dirty="0">
                <a:solidFill>
                  <a:srgbClr val="006795"/>
                </a:solidFill>
              </a:rPr>
              <a:t>plus spécifiques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6795"/>
                </a:solidFill>
              </a:rPr>
              <a:t>Déterminer des </a:t>
            </a:r>
            <a:r>
              <a:rPr lang="fr-FR" sz="2000" b="1" dirty="0">
                <a:solidFill>
                  <a:srgbClr val="006795"/>
                </a:solidFill>
              </a:rPr>
              <a:t>facteurs de transcription et voies de signalisation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b="1" dirty="0">
              <a:solidFill>
                <a:srgbClr val="0067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u="sng" dirty="0">
                <a:solidFill>
                  <a:srgbClr val="006795"/>
                </a:solidFill>
              </a:rPr>
              <a:t>Méthode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006795"/>
                </a:solidFill>
              </a:rPr>
              <a:t>SCENIC </a:t>
            </a:r>
            <a:r>
              <a:rPr lang="fr-FR" sz="2000" dirty="0">
                <a:solidFill>
                  <a:srgbClr val="006795"/>
                </a:solidFill>
              </a:rPr>
              <a:t>(</a:t>
            </a:r>
            <a:r>
              <a:rPr lang="en-US" sz="2000" dirty="0">
                <a:solidFill>
                  <a:srgbClr val="006795"/>
                </a:solidFill>
              </a:rPr>
              <a:t>Single-cell regulatory network inference and clustering)</a:t>
            </a:r>
            <a:endParaRPr lang="fr-FR" sz="2000" dirty="0">
              <a:solidFill>
                <a:srgbClr val="006795"/>
              </a:solidFill>
            </a:endParaRPr>
          </a:p>
        </p:txBody>
      </p:sp>
      <p:sp>
        <p:nvSpPr>
          <p:cNvPr id="12" name="Titre 3">
            <a:extLst>
              <a:ext uri="{FF2B5EF4-FFF2-40B4-BE49-F238E27FC236}">
                <a16:creationId xmlns:a16="http://schemas.microsoft.com/office/drawing/2014/main" id="{56DE683E-BB49-43F1-BF73-7F04E544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Axis 3</a:t>
            </a:r>
          </a:p>
        </p:txBody>
      </p:sp>
    </p:spTree>
    <p:extLst>
      <p:ext uri="{BB962C8B-B14F-4D97-AF65-F5344CB8AC3E}">
        <p14:creationId xmlns:p14="http://schemas.microsoft.com/office/powerpoint/2010/main" val="4033506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1F8261F-963E-4573-928A-1264D28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70D14EBE-68F4-469D-8609-95C31B5C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6384022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0086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257425" y="2338388"/>
            <a:ext cx="7677150" cy="2181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dirty="0" err="1">
                <a:solidFill>
                  <a:srgbClr val="006795"/>
                </a:solidFill>
              </a:rPr>
              <a:t>Thank</a:t>
            </a:r>
            <a:r>
              <a:rPr lang="fr-FR" sz="4800" b="1" dirty="0">
                <a:solidFill>
                  <a:srgbClr val="006795"/>
                </a:solidFill>
              </a:rPr>
              <a:t> </a:t>
            </a:r>
            <a:r>
              <a:rPr lang="fr-FR" sz="4800" b="1" dirty="0" err="1">
                <a:solidFill>
                  <a:srgbClr val="006795"/>
                </a:solidFill>
              </a:rPr>
              <a:t>you</a:t>
            </a:r>
            <a:r>
              <a:rPr lang="fr-FR" sz="4800" b="1" dirty="0">
                <a:solidFill>
                  <a:srgbClr val="006795"/>
                </a:solidFill>
              </a:rPr>
              <a:t> for </a:t>
            </a:r>
            <a:r>
              <a:rPr lang="fr-FR" sz="4800" b="1" dirty="0" err="1">
                <a:solidFill>
                  <a:srgbClr val="006795"/>
                </a:solidFill>
              </a:rPr>
              <a:t>listening</a:t>
            </a:r>
            <a:r>
              <a:rPr lang="fr-FR" sz="4800" b="1" dirty="0">
                <a:solidFill>
                  <a:srgbClr val="006795"/>
                </a:solidFill>
              </a:rPr>
              <a:t> !</a:t>
            </a:r>
          </a:p>
          <a:p>
            <a:endParaRPr lang="fr-FR" sz="2400" b="1" dirty="0">
              <a:solidFill>
                <a:srgbClr val="006795"/>
              </a:solidFill>
            </a:endParaRPr>
          </a:p>
          <a:p>
            <a:r>
              <a:rPr lang="fr-FR" sz="2400" b="1" dirty="0" err="1">
                <a:solidFill>
                  <a:srgbClr val="006795"/>
                </a:solidFill>
              </a:rPr>
              <a:t>Tutor</a:t>
            </a:r>
            <a:r>
              <a:rPr lang="fr-FR" sz="2400" b="1" dirty="0">
                <a:solidFill>
                  <a:srgbClr val="006795"/>
                </a:solidFill>
              </a:rPr>
              <a:t> : Dr Pierre Martinez</a:t>
            </a:r>
          </a:p>
          <a:p>
            <a:endParaRPr lang="fr-FR" sz="2400" b="1" dirty="0">
              <a:solidFill>
                <a:srgbClr val="006795"/>
              </a:solidFill>
            </a:endParaRPr>
          </a:p>
          <a:p>
            <a:r>
              <a:rPr lang="fr-FR" sz="2400" b="1" dirty="0">
                <a:solidFill>
                  <a:srgbClr val="006795"/>
                </a:solidFill>
              </a:rPr>
              <a:t>jordan.dutel@lyon.unicancer.fr</a:t>
            </a:r>
          </a:p>
        </p:txBody>
      </p:sp>
    </p:spTree>
    <p:extLst>
      <p:ext uri="{BB962C8B-B14F-4D97-AF65-F5344CB8AC3E}">
        <p14:creationId xmlns:p14="http://schemas.microsoft.com/office/powerpoint/2010/main" val="2395121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7419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942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1218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0985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4928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4D6197C-5877-4A72-A044-9321744B79EA}"/>
              </a:ext>
            </a:extLst>
          </p:cNvPr>
          <p:cNvSpPr txBox="1">
            <a:spLocks/>
          </p:cNvSpPr>
          <p:nvPr/>
        </p:nvSpPr>
        <p:spPr>
          <a:xfrm>
            <a:off x="2716296" y="3072815"/>
            <a:ext cx="6759408" cy="7123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800" dirty="0">
              <a:solidFill>
                <a:srgbClr val="006795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ADD9C-12B3-4583-B6C5-8E10C180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Backup </a:t>
            </a:r>
            <a:r>
              <a:rPr lang="fr-FR" b="1" dirty="0" err="1"/>
              <a:t>Methodo</a:t>
            </a:r>
            <a:r>
              <a:rPr lang="fr-FR" b="1" dirty="0"/>
              <a:t> (tous les outils)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8A035C-7A90-4178-B9B9-CF6BEADC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5889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00BA545-72DB-4D50-B267-0F004E54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04D175-CB92-4DC4-A011-50CCF86C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172"/>
            <a:ext cx="10515600" cy="1655070"/>
          </a:xfrm>
        </p:spPr>
        <p:txBody>
          <a:bodyPr/>
          <a:lstStyle/>
          <a:p>
            <a:r>
              <a:rPr lang="fr-FR" dirty="0">
                <a:solidFill>
                  <a:srgbClr val="006795"/>
                </a:solidFill>
              </a:rPr>
              <a:t>Les MpBC (</a:t>
            </a:r>
            <a:r>
              <a:rPr lang="fr-FR" dirty="0" err="1">
                <a:solidFill>
                  <a:srgbClr val="006795"/>
                </a:solidFill>
              </a:rPr>
              <a:t>Metaplastic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Breast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Carcinomas</a:t>
            </a:r>
            <a:r>
              <a:rPr lang="fr-FR" dirty="0">
                <a:solidFill>
                  <a:srgbClr val="006795"/>
                </a:solidFill>
              </a:rPr>
              <a:t>) sont :</a:t>
            </a:r>
          </a:p>
          <a:p>
            <a:pPr lvl="1"/>
            <a:r>
              <a:rPr lang="fr-FR" dirty="0">
                <a:solidFill>
                  <a:srgbClr val="006795"/>
                </a:solidFill>
              </a:rPr>
              <a:t>Formes rares, agressives et invasives du </a:t>
            </a:r>
            <a:r>
              <a:rPr lang="fr-FR" b="1" dirty="0">
                <a:solidFill>
                  <a:srgbClr val="006795"/>
                </a:solidFill>
              </a:rPr>
              <a:t>cancer sein triple négatif</a:t>
            </a:r>
          </a:p>
          <a:p>
            <a:pPr lvl="2"/>
            <a:r>
              <a:rPr lang="fr-FR" dirty="0">
                <a:solidFill>
                  <a:srgbClr val="006795"/>
                </a:solidFill>
              </a:rPr>
              <a:t>Absence d’expression des récepteurs à l’œstrogène (ER), progestérone (PR) et HER2</a:t>
            </a:r>
          </a:p>
          <a:p>
            <a:pPr lvl="2"/>
            <a:r>
              <a:rPr lang="fr-FR" dirty="0">
                <a:solidFill>
                  <a:srgbClr val="006795"/>
                </a:solidFill>
              </a:rPr>
              <a:t>Thérapies classiques du cancer du sein inefficaces</a:t>
            </a:r>
          </a:p>
          <a:p>
            <a:pPr lvl="2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01B804-EF22-4493-A97A-D12C138D3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01767"/>
            <a:ext cx="3213684" cy="19520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45CA7C5-883A-45A6-85CD-FF2470084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139" y="3593472"/>
            <a:ext cx="3842377" cy="23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0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04D175-CB92-4DC4-A011-50CCF86C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006795"/>
                </a:solidFill>
              </a:rPr>
              <a:t>Les MpBC (</a:t>
            </a:r>
            <a:r>
              <a:rPr lang="fr-FR" dirty="0" err="1">
                <a:solidFill>
                  <a:srgbClr val="006795"/>
                </a:solidFill>
              </a:rPr>
              <a:t>Metaplastic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Breast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Carcinomas</a:t>
            </a:r>
            <a:r>
              <a:rPr lang="fr-FR" dirty="0">
                <a:solidFill>
                  <a:srgbClr val="006795"/>
                </a:solidFill>
              </a:rPr>
              <a:t>) ont :</a:t>
            </a:r>
          </a:p>
          <a:p>
            <a:pPr lvl="1"/>
            <a:r>
              <a:rPr lang="fr-FR" dirty="0">
                <a:solidFill>
                  <a:srgbClr val="006795"/>
                </a:solidFill>
              </a:rPr>
              <a:t>Une </a:t>
            </a:r>
            <a:r>
              <a:rPr lang="fr-FR" b="1" dirty="0">
                <a:solidFill>
                  <a:srgbClr val="006795"/>
                </a:solidFill>
              </a:rPr>
              <a:t>grande plasticité cellulaire </a:t>
            </a:r>
            <a:r>
              <a:rPr lang="fr-FR" dirty="0">
                <a:solidFill>
                  <a:srgbClr val="006795"/>
                </a:solidFill>
              </a:rPr>
              <a:t>(transdifférenciation)</a:t>
            </a:r>
          </a:p>
          <a:p>
            <a:pPr lvl="2"/>
            <a:r>
              <a:rPr lang="fr-FR" dirty="0">
                <a:solidFill>
                  <a:srgbClr val="006795"/>
                </a:solidFill>
              </a:rPr>
              <a:t>Sous-types : Chondroïde / Spindle-cell / Osteosarcomatoïde / Epidermoïde</a:t>
            </a:r>
          </a:p>
          <a:p>
            <a:pPr lvl="2"/>
            <a:endParaRPr lang="fr-FR" dirty="0">
              <a:solidFill>
                <a:srgbClr val="006795"/>
              </a:solidFill>
            </a:endParaRPr>
          </a:p>
          <a:p>
            <a:pPr lvl="2"/>
            <a:endParaRPr lang="fr-FR" dirty="0">
              <a:solidFill>
                <a:srgbClr val="006795"/>
              </a:solidFill>
            </a:endParaRPr>
          </a:p>
          <a:p>
            <a:pPr lvl="1"/>
            <a:endParaRPr lang="fr-FR" dirty="0">
              <a:solidFill>
                <a:srgbClr val="00679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83B64D-290E-415E-AE00-2FD287D5C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60" y="3457635"/>
            <a:ext cx="11065079" cy="2719328"/>
          </a:xfrm>
          <a:prstGeom prst="rect">
            <a:avLst/>
          </a:prstGeom>
        </p:spPr>
      </p:pic>
      <p:sp>
        <p:nvSpPr>
          <p:cNvPr id="9" name="Titre 3">
            <a:extLst>
              <a:ext uri="{FF2B5EF4-FFF2-40B4-BE49-F238E27FC236}">
                <a16:creationId xmlns:a16="http://schemas.microsoft.com/office/drawing/2014/main" id="{04EC9DDF-B4BD-4D68-A5F1-3DD9ED4D8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1211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04D175-CB92-4DC4-A011-50CCF86C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28" y="1194579"/>
            <a:ext cx="10515600" cy="4351338"/>
          </a:xfrm>
        </p:spPr>
        <p:txBody>
          <a:bodyPr/>
          <a:lstStyle/>
          <a:p>
            <a:r>
              <a:rPr lang="fr-FR" dirty="0">
                <a:solidFill>
                  <a:srgbClr val="006795"/>
                </a:solidFill>
              </a:rPr>
              <a:t>Les MpBC (</a:t>
            </a:r>
            <a:r>
              <a:rPr lang="fr-FR" dirty="0" err="1">
                <a:solidFill>
                  <a:srgbClr val="006795"/>
                </a:solidFill>
              </a:rPr>
              <a:t>Metaplastic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Breast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Carcinomas</a:t>
            </a:r>
            <a:r>
              <a:rPr lang="fr-FR" dirty="0">
                <a:solidFill>
                  <a:srgbClr val="006795"/>
                </a:solidFill>
              </a:rPr>
              <a:t>) sont :</a:t>
            </a:r>
          </a:p>
          <a:p>
            <a:pPr lvl="1"/>
            <a:r>
              <a:rPr lang="fr-FR" dirty="0">
                <a:solidFill>
                  <a:srgbClr val="006795"/>
                </a:solidFill>
              </a:rPr>
              <a:t>Très </a:t>
            </a:r>
            <a:r>
              <a:rPr lang="fr-FR" b="1" dirty="0">
                <a:solidFill>
                  <a:srgbClr val="006795"/>
                </a:solidFill>
              </a:rPr>
              <a:t>mal caractérisés</a:t>
            </a:r>
          </a:p>
          <a:p>
            <a:pPr lvl="2"/>
            <a:r>
              <a:rPr lang="fr-FR" dirty="0">
                <a:solidFill>
                  <a:srgbClr val="006795"/>
                </a:solidFill>
              </a:rPr>
              <a:t>Uniquement diagnostiqués </a:t>
            </a:r>
            <a:r>
              <a:rPr lang="fr-FR" b="1" dirty="0">
                <a:solidFill>
                  <a:srgbClr val="006795"/>
                </a:solidFill>
              </a:rPr>
              <a:t>histopathologiquement</a:t>
            </a:r>
          </a:p>
          <a:p>
            <a:pPr lvl="2"/>
            <a:r>
              <a:rPr lang="fr-FR" b="1" dirty="0">
                <a:solidFill>
                  <a:srgbClr val="006795"/>
                </a:solidFill>
              </a:rPr>
              <a:t>Aucun marqueur moléculaire </a:t>
            </a:r>
            <a:r>
              <a:rPr lang="fr-FR" dirty="0">
                <a:solidFill>
                  <a:srgbClr val="006795"/>
                </a:solidFill>
              </a:rPr>
              <a:t>spécifique</a:t>
            </a:r>
          </a:p>
          <a:p>
            <a:pPr lvl="2"/>
            <a:endParaRPr lang="fr-FR" dirty="0">
              <a:solidFill>
                <a:srgbClr val="006795"/>
              </a:solidFill>
            </a:endParaRPr>
          </a:p>
          <a:p>
            <a:pPr lvl="2"/>
            <a:endParaRPr lang="fr-FR" dirty="0">
              <a:solidFill>
                <a:srgbClr val="006795"/>
              </a:solidFill>
            </a:endParaRPr>
          </a:p>
          <a:p>
            <a:pPr lvl="1"/>
            <a:endParaRPr lang="fr-FR" dirty="0">
              <a:solidFill>
                <a:srgbClr val="006795"/>
              </a:solidFill>
            </a:endParaRPr>
          </a:p>
        </p:txBody>
      </p:sp>
      <p:sp>
        <p:nvSpPr>
          <p:cNvPr id="12" name="Titre 3">
            <a:extLst>
              <a:ext uri="{FF2B5EF4-FFF2-40B4-BE49-F238E27FC236}">
                <a16:creationId xmlns:a16="http://schemas.microsoft.com/office/drawing/2014/main" id="{A0BCB920-F176-4E1D-8A04-8945C9F3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Introduction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AE99074-90E7-41CD-990F-63C35AE8F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04" y="4265714"/>
            <a:ext cx="9749591" cy="24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78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18AE9B-815D-4A4C-8BDA-6E76243742C6}"/>
              </a:ext>
            </a:extLst>
          </p:cNvPr>
          <p:cNvSpPr/>
          <p:nvPr/>
        </p:nvSpPr>
        <p:spPr>
          <a:xfrm>
            <a:off x="0" y="6624747"/>
            <a:ext cx="481263" cy="233253"/>
          </a:xfrm>
          <a:prstGeom prst="rect">
            <a:avLst/>
          </a:prstGeom>
          <a:solidFill>
            <a:srgbClr val="0067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B67BF-2349-4198-B929-617ADA4899A7}"/>
              </a:ext>
            </a:extLst>
          </p:cNvPr>
          <p:cNvSpPr/>
          <p:nvPr/>
        </p:nvSpPr>
        <p:spPr>
          <a:xfrm>
            <a:off x="11365828" y="0"/>
            <a:ext cx="826172" cy="432331"/>
          </a:xfrm>
          <a:prstGeom prst="rect">
            <a:avLst/>
          </a:prstGeom>
          <a:solidFill>
            <a:srgbClr val="F39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83223-16D9-46A4-980E-38F46A1D3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141413"/>
            <a:ext cx="9877927" cy="216411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6795"/>
                </a:solidFill>
              </a:rPr>
              <a:t>Understanding the </a:t>
            </a:r>
            <a:r>
              <a:rPr lang="en-US" b="1" dirty="0">
                <a:solidFill>
                  <a:srgbClr val="006795"/>
                </a:solidFill>
              </a:rPr>
              <a:t>evolutionary trajectories </a:t>
            </a:r>
            <a:r>
              <a:rPr lang="en-US" dirty="0">
                <a:solidFill>
                  <a:srgbClr val="006795"/>
                </a:solidFill>
              </a:rPr>
              <a:t>in MpBC</a:t>
            </a:r>
          </a:p>
          <a:p>
            <a:pPr lvl="1"/>
            <a:r>
              <a:rPr lang="en-US" dirty="0">
                <a:solidFill>
                  <a:srgbClr val="006795"/>
                </a:solidFill>
              </a:rPr>
              <a:t>Internal determinants (genetic and epigenetic)</a:t>
            </a:r>
          </a:p>
          <a:p>
            <a:pPr lvl="1"/>
            <a:r>
              <a:rPr lang="fr-FR" dirty="0" err="1">
                <a:solidFill>
                  <a:srgbClr val="006795"/>
                </a:solidFill>
              </a:rPr>
              <a:t>External</a:t>
            </a:r>
            <a:r>
              <a:rPr lang="fr-FR" dirty="0">
                <a:solidFill>
                  <a:srgbClr val="006795"/>
                </a:solidFill>
              </a:rPr>
              <a:t> determinants (</a:t>
            </a:r>
            <a:r>
              <a:rPr lang="fr-FR" dirty="0" err="1">
                <a:solidFill>
                  <a:srgbClr val="006795"/>
                </a:solidFill>
              </a:rPr>
              <a:t>tumor</a:t>
            </a:r>
            <a:r>
              <a:rPr lang="fr-FR" dirty="0">
                <a:solidFill>
                  <a:srgbClr val="006795"/>
                </a:solidFill>
              </a:rPr>
              <a:t> </a:t>
            </a:r>
            <a:r>
              <a:rPr lang="fr-FR" dirty="0" err="1">
                <a:solidFill>
                  <a:srgbClr val="006795"/>
                </a:solidFill>
              </a:rPr>
              <a:t>microenvironment</a:t>
            </a:r>
            <a:r>
              <a:rPr lang="fr-FR" dirty="0">
                <a:solidFill>
                  <a:srgbClr val="006795"/>
                </a:solidFill>
              </a:rPr>
              <a:t>)</a:t>
            </a:r>
          </a:p>
          <a:p>
            <a:pPr lvl="1"/>
            <a:endParaRPr lang="fr-FR" dirty="0">
              <a:solidFill>
                <a:srgbClr val="006795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6795"/>
                </a:solidFill>
              </a:rPr>
              <a:t>Identify molecular biomarkers to </a:t>
            </a:r>
            <a:r>
              <a:rPr lang="en-US" b="1" dirty="0">
                <a:solidFill>
                  <a:srgbClr val="006795"/>
                </a:solidFill>
              </a:rPr>
              <a:t>improve diagnostic </a:t>
            </a:r>
            <a:r>
              <a:rPr lang="en-US" dirty="0">
                <a:solidFill>
                  <a:srgbClr val="006795"/>
                </a:solidFill>
              </a:rPr>
              <a:t>precision</a:t>
            </a:r>
            <a:endParaRPr lang="fr-FR" dirty="0">
              <a:solidFill>
                <a:srgbClr val="006795"/>
              </a:solidFill>
            </a:endParaRPr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3D3F6EE5-762D-4D82-8CC3-FA3FA5D0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46" y="115748"/>
            <a:ext cx="2945235" cy="633165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39224"/>
                </a:solidFill>
              </a:rPr>
              <a:t>Objectifs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E3C72A-8B5F-4381-BD39-905CB0999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36" y="3305527"/>
            <a:ext cx="7972926" cy="34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115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</TotalTime>
  <Words>776</Words>
  <Application>Microsoft Office PowerPoint</Application>
  <PresentationFormat>Grand écran</PresentationFormat>
  <Paragraphs>140</Paragraphs>
  <Slides>32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Utopia-Regular</vt:lpstr>
      <vt:lpstr>Thème Office</vt:lpstr>
      <vt:lpstr> Evolutionary determinants and trajectories of metaplastic breast carcinomas</vt:lpstr>
      <vt:lpstr>Introduction</vt:lpstr>
      <vt:lpstr>Introduction</vt:lpstr>
      <vt:lpstr>Introduction</vt:lpstr>
      <vt:lpstr>Research questions</vt:lpstr>
      <vt:lpstr>Preliminary results: Expression markers analysis</vt:lpstr>
      <vt:lpstr>Preliminary results: Expression markers analysis</vt:lpstr>
      <vt:lpstr>Preliminary results: Expression markers analysis</vt:lpstr>
      <vt:lpstr>Preliminary results: Spot deconvolution &amp; TME</vt:lpstr>
      <vt:lpstr>Preliminary results: Genetic determinants (CNA) </vt:lpstr>
      <vt:lpstr>Research axis</vt:lpstr>
      <vt:lpstr>Présentation PowerPoint</vt:lpstr>
      <vt:lpstr>Axis 1</vt:lpstr>
      <vt:lpstr>Axis 1</vt:lpstr>
      <vt:lpstr>Présentation PowerPoint</vt:lpstr>
      <vt:lpstr>Axis 2</vt:lpstr>
      <vt:lpstr>Bordure…</vt:lpstr>
      <vt:lpstr>Présentation PowerPoint</vt:lpstr>
      <vt:lpstr>Axis 3</vt:lpstr>
      <vt:lpstr>Axis 3</vt:lpstr>
      <vt:lpstr>Conclusion</vt:lpstr>
      <vt:lpstr>Présentation PowerPoint</vt:lpstr>
      <vt:lpstr>Backup Methodo (tous les outils)</vt:lpstr>
      <vt:lpstr>Backup Methodo (tous les outils)</vt:lpstr>
      <vt:lpstr>Backup Methodo (tous les outils)</vt:lpstr>
      <vt:lpstr>Backup Methodo (tous les outils)</vt:lpstr>
      <vt:lpstr>Backup Methodo (tous les outils)</vt:lpstr>
      <vt:lpstr>Backup Methodo (tous les outils)</vt:lpstr>
      <vt:lpstr>Introduction</vt:lpstr>
      <vt:lpstr>Introduction</vt:lpstr>
      <vt:lpstr>Introduction</vt:lpstr>
      <vt:lpstr>Objectifs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Trajectoires et déterminants évolutifs des carcinomes mammaires métaplasiques</dc:title>
  <dc:creator>bioinfo</dc:creator>
  <cp:lastModifiedBy>bioinfo</cp:lastModifiedBy>
  <cp:revision>98</cp:revision>
  <dcterms:created xsi:type="dcterms:W3CDTF">2025-06-05T14:01:11Z</dcterms:created>
  <dcterms:modified xsi:type="dcterms:W3CDTF">2025-06-16T14:18:09Z</dcterms:modified>
</cp:coreProperties>
</file>